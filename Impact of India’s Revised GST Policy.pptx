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notesMasterIdLst>
    <p:notesMasterId r:id="rId16"/>
  </p:notesMasterIdLst>
  <p:sldIdLst>
    <p:sldId id="256" r:id="rId2"/>
    <p:sldId id="258" r:id="rId3"/>
    <p:sldId id="259" r:id="rId4"/>
    <p:sldId id="260" r:id="rId5"/>
    <p:sldId id="257"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90" d="100"/>
          <a:sy n="90" d="100"/>
        </p:scale>
        <p:origin x="38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6DB2C8-13D9-4918-92F0-7AC6D00CE9F7}" type="datetimeFigureOut">
              <a:rPr lang="en-IN" smtClean="0"/>
              <a:t>21-09-2025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BC79DD-CD42-473C-8C61-27B7F9EE3B9F}" type="slidenum">
              <a:rPr lang="en-IN" smtClean="0"/>
              <a:t>‹#›</a:t>
            </a:fld>
            <a:endParaRPr lang="en-IN"/>
          </a:p>
        </p:txBody>
      </p:sp>
    </p:spTree>
    <p:extLst>
      <p:ext uri="{BB962C8B-B14F-4D97-AF65-F5344CB8AC3E}">
        <p14:creationId xmlns:p14="http://schemas.microsoft.com/office/powerpoint/2010/main" val="1160102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BC79DD-CD42-473C-8C61-27B7F9EE3B9F}" type="slidenum">
              <a:rPr lang="en-IN" smtClean="0"/>
              <a:t>13</a:t>
            </a:fld>
            <a:endParaRPr lang="en-IN"/>
          </a:p>
        </p:txBody>
      </p:sp>
    </p:spTree>
    <p:extLst>
      <p:ext uri="{BB962C8B-B14F-4D97-AF65-F5344CB8AC3E}">
        <p14:creationId xmlns:p14="http://schemas.microsoft.com/office/powerpoint/2010/main" val="608671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1498886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2990166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1652231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E6FDBE-1D9E-416A-B2C1-06556E2E160B}" type="datetimeFigureOut">
              <a:rPr lang="en-IN" smtClean="0"/>
              <a:t>21-09-2025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123594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E6FDBE-1D9E-416A-B2C1-06556E2E160B}" type="datetimeFigureOut">
              <a:rPr lang="en-IN" smtClean="0"/>
              <a:t>21-09-2025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688020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E6FDBE-1D9E-416A-B2C1-06556E2E160B}" type="datetimeFigureOut">
              <a:rPr lang="en-IN" smtClean="0"/>
              <a:t>21-09-2025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315421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6FDBE-1D9E-416A-B2C1-06556E2E160B}" type="datetimeFigureOut">
              <a:rPr lang="en-IN" smtClean="0"/>
              <a:t>21-09-2025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566518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6FDBE-1D9E-416A-B2C1-06556E2E160B}" type="datetimeFigureOut">
              <a:rPr lang="en-IN" smtClean="0"/>
              <a:t>21-09-2025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4228163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6FDBE-1D9E-416A-B2C1-06556E2E160B}" type="datetimeFigureOut">
              <a:rPr lang="en-IN" smtClean="0"/>
              <a:t>21-09-2025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4096125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3903016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7781761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3696381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03074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4246131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26137211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E6FDBE-1D9E-416A-B2C1-06556E2E160B}" type="datetimeFigureOut">
              <a:rPr lang="en-IN" smtClean="0"/>
              <a:t>21-09-2025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A53034-9C92-43E9-9CD2-6E32D5F92A23}" type="slidenum">
              <a:rPr lang="en-IN" smtClean="0"/>
              <a:t>‹#›</a:t>
            </a:fld>
            <a:endParaRPr lang="en-IN"/>
          </a:p>
        </p:txBody>
      </p:sp>
    </p:spTree>
    <p:extLst>
      <p:ext uri="{BB962C8B-B14F-4D97-AF65-F5344CB8AC3E}">
        <p14:creationId xmlns:p14="http://schemas.microsoft.com/office/powerpoint/2010/main" val="4276138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7E6FDBE-1D9E-416A-B2C1-06556E2E160B}" type="datetimeFigureOut">
              <a:rPr lang="en-IN" smtClean="0"/>
              <a:t>21-09-2025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DA53034-9C92-43E9-9CD2-6E32D5F92A23}" type="slidenum">
              <a:rPr lang="en-IN" smtClean="0"/>
              <a:t>‹#›</a:t>
            </a:fld>
            <a:endParaRPr lang="en-IN"/>
          </a:p>
        </p:txBody>
      </p:sp>
    </p:spTree>
    <p:extLst>
      <p:ext uri="{BB962C8B-B14F-4D97-AF65-F5344CB8AC3E}">
        <p14:creationId xmlns:p14="http://schemas.microsoft.com/office/powerpoint/2010/main" val="2561826347"/>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35" name="Group 1034">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36" name="Straight Connector 1035">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7" name="Straight Connector 1036">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38"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39"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0" name="Isosceles Triangle 1039">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1"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2"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3"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4" name="Isosceles Triangle 1043">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45" name="Isosceles Triangle 1044">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1047" name="Rectangle 1046">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descr="VEHICLES için 390 fikir, 2025 | motorsiklet, motosikletler, motosiklet">
            <a:extLst>
              <a:ext uri="{FF2B5EF4-FFF2-40B4-BE49-F238E27FC236}">
                <a16:creationId xmlns:a16="http://schemas.microsoft.com/office/drawing/2014/main" id="{6EE8D293-9D44-1DDE-8DE1-6E901C74A48E}"/>
              </a:ext>
            </a:extLst>
          </p:cNvPr>
          <p:cNvPicPr>
            <a:picLocks noChangeAspect="1" noChangeArrowheads="1"/>
          </p:cNvPicPr>
          <p:nvPr/>
        </p:nvPicPr>
        <p:blipFill>
          <a:blip r:embed="rId2">
            <a:duotone>
              <a:prstClr val="black"/>
              <a:schemeClr val="tx2">
                <a:tint val="45000"/>
                <a:satMod val="400000"/>
              </a:schemeClr>
            </a:duotone>
            <a:alphaModFix amt="40000"/>
            <a:extLst>
              <a:ext uri="{28A0092B-C50C-407E-A947-70E740481C1C}">
                <a14:useLocalDpi xmlns:a14="http://schemas.microsoft.com/office/drawing/2010/main" val="0"/>
              </a:ext>
            </a:extLst>
          </a:blip>
          <a:srcRect t="27679" r="1" b="25774"/>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F0452EA-AD79-2624-2900-F83032F759A7}"/>
              </a:ext>
            </a:extLst>
          </p:cNvPr>
          <p:cNvSpPr>
            <a:spLocks noGrp="1"/>
          </p:cNvSpPr>
          <p:nvPr>
            <p:ph type="ctrTitle"/>
          </p:nvPr>
        </p:nvSpPr>
        <p:spPr>
          <a:xfrm>
            <a:off x="677334" y="609600"/>
            <a:ext cx="8596668" cy="1320800"/>
          </a:xfrm>
        </p:spPr>
        <p:txBody>
          <a:bodyPr vert="horz" lIns="91440" tIns="45720" rIns="91440" bIns="45720" rtlCol="0" anchor="t">
            <a:normAutofit/>
          </a:bodyPr>
          <a:lstStyle/>
          <a:p>
            <a:pPr algn="l"/>
            <a:r>
              <a:rPr lang="en-US" sz="3600"/>
              <a:t>Impact of India’s Revised GST Policy </a:t>
            </a:r>
            <a:br>
              <a:rPr lang="en-US" sz="3600"/>
            </a:br>
            <a:r>
              <a:rPr lang="en-US" sz="3600"/>
              <a:t>on Bajaj Motorcycle Sales</a:t>
            </a:r>
          </a:p>
        </p:txBody>
      </p:sp>
      <p:sp>
        <p:nvSpPr>
          <p:cNvPr id="3" name="Subtitle 2">
            <a:extLst>
              <a:ext uri="{FF2B5EF4-FFF2-40B4-BE49-F238E27FC236}">
                <a16:creationId xmlns:a16="http://schemas.microsoft.com/office/drawing/2014/main" id="{74F1EB10-F962-6E01-C1F2-16B4DA31D4E8}"/>
              </a:ext>
            </a:extLst>
          </p:cNvPr>
          <p:cNvSpPr>
            <a:spLocks noGrp="1"/>
          </p:cNvSpPr>
          <p:nvPr>
            <p:ph type="subTitle" idx="1"/>
          </p:nvPr>
        </p:nvSpPr>
        <p:spPr>
          <a:xfrm>
            <a:off x="677334" y="2160589"/>
            <a:ext cx="8596668" cy="3880773"/>
          </a:xfrm>
        </p:spPr>
        <p:txBody>
          <a:bodyPr vert="horz" lIns="91440" tIns="45720" rIns="91440" bIns="45720" rtlCol="0">
            <a:normAutofit/>
          </a:bodyPr>
          <a:lstStyle/>
          <a:p>
            <a:pPr indent="-228600" algn="l">
              <a:buFont typeface="Wingdings 3" charset="2"/>
              <a:buChar char=""/>
            </a:pPr>
            <a:r>
              <a:rPr lang="en-US" dirty="0">
                <a:solidFill>
                  <a:srgbClr val="FFFFFF"/>
                </a:solidFill>
              </a:rPr>
              <a:t>Sales, Revenue &amp; Forecast Analysis (2023–2025)</a:t>
            </a:r>
          </a:p>
          <a:p>
            <a:pPr indent="-228600" algn="l">
              <a:buFont typeface="Wingdings 3" charset="2"/>
              <a:buChar char=""/>
            </a:pPr>
            <a:r>
              <a:rPr lang="en-US" dirty="0">
                <a:solidFill>
                  <a:srgbClr val="FFFFFF"/>
                </a:solidFill>
              </a:rPr>
              <a:t>Excel project presentation By Sufiyan Mirkar-</a:t>
            </a:r>
          </a:p>
          <a:p>
            <a:pPr algn="l"/>
            <a:endParaRPr lang="en-US" dirty="0">
              <a:solidFill>
                <a:srgbClr val="FFFFFF"/>
              </a:solidFill>
            </a:endParaRPr>
          </a:p>
          <a:p>
            <a:pPr algn="l"/>
            <a:endParaRPr lang="en-US" dirty="0">
              <a:solidFill>
                <a:srgbClr val="FFFFFF"/>
              </a:solidFill>
            </a:endParaRPr>
          </a:p>
        </p:txBody>
      </p:sp>
    </p:spTree>
    <p:extLst>
      <p:ext uri="{BB962C8B-B14F-4D97-AF65-F5344CB8AC3E}">
        <p14:creationId xmlns:p14="http://schemas.microsoft.com/office/powerpoint/2010/main" val="3253167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7EF3B-5946-601E-2AD8-FA61C4B3FD77}"/>
              </a:ext>
            </a:extLst>
          </p:cNvPr>
          <p:cNvSpPr>
            <a:spLocks noGrp="1"/>
          </p:cNvSpPr>
          <p:nvPr>
            <p:ph type="title"/>
          </p:nvPr>
        </p:nvSpPr>
        <p:spPr>
          <a:xfrm>
            <a:off x="482601" y="507999"/>
            <a:ext cx="7713133" cy="1540933"/>
          </a:xfrm>
        </p:spPr>
        <p:txBody>
          <a:bodyPr>
            <a:normAutofit/>
          </a:bodyPr>
          <a:lstStyle/>
          <a:p>
            <a:r>
              <a:rPr lang="en-IN" sz="4800" dirty="0"/>
              <a:t>OBJECTIVE</a:t>
            </a:r>
          </a:p>
        </p:txBody>
      </p:sp>
      <p:sp>
        <p:nvSpPr>
          <p:cNvPr id="3" name="Content Placeholder 2">
            <a:extLst>
              <a:ext uri="{FF2B5EF4-FFF2-40B4-BE49-F238E27FC236}">
                <a16:creationId xmlns:a16="http://schemas.microsoft.com/office/drawing/2014/main" id="{470CF88B-5E4C-76C6-400C-8F16CC39677D}"/>
              </a:ext>
            </a:extLst>
          </p:cNvPr>
          <p:cNvSpPr>
            <a:spLocks noGrp="1"/>
          </p:cNvSpPr>
          <p:nvPr>
            <p:ph idx="1"/>
          </p:nvPr>
        </p:nvSpPr>
        <p:spPr>
          <a:xfrm>
            <a:off x="482601" y="2609322"/>
            <a:ext cx="8596668" cy="2371239"/>
          </a:xfrm>
        </p:spPr>
        <p:txBody>
          <a:bodyPr/>
          <a:lstStyle/>
          <a:p>
            <a:r>
              <a:rPr lang="en-US" dirty="0">
                <a:solidFill>
                  <a:schemeClr val="bg1"/>
                </a:solidFill>
              </a:rPr>
              <a:t>How GST is Steering the Future of Bajaj Motorcycles</a:t>
            </a:r>
          </a:p>
          <a:p>
            <a:endParaRPr lang="en-US" dirty="0">
              <a:solidFill>
                <a:schemeClr val="bg1"/>
              </a:solidFill>
            </a:endParaRPr>
          </a:p>
          <a:p>
            <a:pPr marL="0" indent="0">
              <a:buNone/>
            </a:pPr>
            <a:r>
              <a:rPr lang="en-US" dirty="0">
                <a:solidFill>
                  <a:schemeClr val="bg1"/>
                </a:solidFill>
              </a:rPr>
              <a:t>This analysis aims to understand how India’s new GST policy has changed Bajaj motorcycle sales. It compares sales before and after the policy, identifies which segments and models gained or lost, and measures the overall impact on revenue and pricing. It also forecasts future demand so that Bajaj can plan production, pricing, and strategy with confidence.</a:t>
            </a:r>
            <a:endParaRPr lang="en-IN" dirty="0">
              <a:solidFill>
                <a:schemeClr val="bg1"/>
              </a:solidFill>
            </a:endParaRPr>
          </a:p>
        </p:txBody>
      </p:sp>
    </p:spTree>
    <p:extLst>
      <p:ext uri="{BB962C8B-B14F-4D97-AF65-F5344CB8AC3E}">
        <p14:creationId xmlns:p14="http://schemas.microsoft.com/office/powerpoint/2010/main" val="14289813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6A985E25-4410-1E3E-5BA3-B2C8B75AD327}"/>
              </a:ext>
            </a:extLst>
          </p:cNvPr>
          <p:cNvSpPr>
            <a:spLocks noGrp="1"/>
          </p:cNvSpPr>
          <p:nvPr>
            <p:ph type="title"/>
          </p:nvPr>
        </p:nvSpPr>
        <p:spPr>
          <a:xfrm>
            <a:off x="677334" y="609600"/>
            <a:ext cx="3843375" cy="5175624"/>
          </a:xfrm>
        </p:spPr>
        <p:txBody>
          <a:bodyPr anchor="ctr">
            <a:normAutofit/>
          </a:bodyPr>
          <a:lstStyle/>
          <a:p>
            <a:r>
              <a:rPr lang="en-IN">
                <a:solidFill>
                  <a:schemeClr val="tx1">
                    <a:lumMod val="85000"/>
                    <a:lumOff val="15000"/>
                  </a:schemeClr>
                </a:solidFill>
              </a:rPr>
              <a:t>📌 </a:t>
            </a:r>
            <a:r>
              <a:rPr lang="en-IN" b="1">
                <a:solidFill>
                  <a:schemeClr val="tx1">
                    <a:lumMod val="85000"/>
                    <a:lumOff val="15000"/>
                  </a:schemeClr>
                </a:solidFill>
              </a:rPr>
              <a:t>Scope of Analysis</a:t>
            </a:r>
            <a:endParaRPr lang="en-IN">
              <a:solidFill>
                <a:schemeClr val="tx1">
                  <a:lumMod val="85000"/>
                  <a:lumOff val="15000"/>
                </a:schemeClr>
              </a:solidFill>
            </a:endParaRP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EE1FAD99-33C6-8A20-4E2D-5F45CD21C6CC}"/>
              </a:ext>
            </a:extLst>
          </p:cNvPr>
          <p:cNvSpPr>
            <a:spLocks noGrp="1"/>
          </p:cNvSpPr>
          <p:nvPr>
            <p:ph idx="1"/>
          </p:nvPr>
        </p:nvSpPr>
        <p:spPr>
          <a:xfrm>
            <a:off x="6116084" y="609601"/>
            <a:ext cx="5511296" cy="5175624"/>
          </a:xfrm>
        </p:spPr>
        <p:txBody>
          <a:bodyPr anchor="ctr">
            <a:normAutofit/>
          </a:bodyPr>
          <a:lstStyle/>
          <a:p>
            <a:r>
              <a:rPr lang="en-IN" b="1">
                <a:solidFill>
                  <a:srgbClr val="FFFFFF"/>
                </a:solidFill>
              </a:rPr>
              <a:t>Time Period Covered</a:t>
            </a:r>
            <a:r>
              <a:rPr lang="en-IN">
                <a:solidFill>
                  <a:srgbClr val="FFFFFF"/>
                </a:solidFill>
              </a:rPr>
              <a:t> → Sales data up to Sept 2025 (pre-policy) and simulated post-policy data.</a:t>
            </a:r>
          </a:p>
          <a:p>
            <a:r>
              <a:rPr lang="en-IN" b="1">
                <a:solidFill>
                  <a:srgbClr val="FFFFFF"/>
                </a:solidFill>
              </a:rPr>
              <a:t>Focus Brand</a:t>
            </a:r>
            <a:r>
              <a:rPr lang="en-IN">
                <a:solidFill>
                  <a:srgbClr val="FFFFFF"/>
                </a:solidFill>
              </a:rPr>
              <a:t> → Bajaj motorcycles only.</a:t>
            </a:r>
          </a:p>
          <a:p>
            <a:r>
              <a:rPr lang="en-IN" b="1">
                <a:solidFill>
                  <a:srgbClr val="FFFFFF"/>
                </a:solidFill>
              </a:rPr>
              <a:t>Comparison</a:t>
            </a:r>
            <a:r>
              <a:rPr lang="en-IN">
                <a:solidFill>
                  <a:srgbClr val="FFFFFF"/>
                </a:solidFill>
              </a:rPr>
              <a:t> → Pre-policy vs Post-policy performance.</a:t>
            </a:r>
          </a:p>
          <a:p>
            <a:r>
              <a:rPr lang="en-IN" b="1">
                <a:solidFill>
                  <a:srgbClr val="FFFFFF"/>
                </a:solidFill>
              </a:rPr>
              <a:t>Metrics Studied</a:t>
            </a:r>
            <a:r>
              <a:rPr lang="en-IN">
                <a:solidFill>
                  <a:srgbClr val="FFFFFF"/>
                </a:solidFill>
              </a:rPr>
              <a:t> → Units sold, revenue, average prices, and tax impact.</a:t>
            </a:r>
          </a:p>
          <a:p>
            <a:r>
              <a:rPr lang="en-IN" b="1">
                <a:solidFill>
                  <a:srgbClr val="FFFFFF"/>
                </a:solidFill>
              </a:rPr>
              <a:t>Segmentation</a:t>
            </a:r>
            <a:r>
              <a:rPr lang="en-IN">
                <a:solidFill>
                  <a:srgbClr val="FFFFFF"/>
                </a:solidFill>
              </a:rPr>
              <a:t> → By engine capacity (Commuter ≤150cc, Mid 151–350cc, Premium &gt;350cc) and by individual Bajaj models.</a:t>
            </a:r>
          </a:p>
          <a:p>
            <a:r>
              <a:rPr lang="en-IN" b="1">
                <a:solidFill>
                  <a:srgbClr val="FFFFFF"/>
                </a:solidFill>
              </a:rPr>
              <a:t>Exclusions</a:t>
            </a:r>
            <a:r>
              <a:rPr lang="en-IN">
                <a:solidFill>
                  <a:srgbClr val="FFFFFF"/>
                </a:solidFill>
              </a:rPr>
              <a:t> → Other manufacturers and non-motorcycle segments are not considered.</a:t>
            </a:r>
          </a:p>
          <a:p>
            <a:endParaRPr lang="en-IN">
              <a:solidFill>
                <a:srgbClr val="FFFFFF"/>
              </a:solidFill>
            </a:endParaRPr>
          </a:p>
        </p:txBody>
      </p:sp>
    </p:spTree>
    <p:extLst>
      <p:ext uri="{BB962C8B-B14F-4D97-AF65-F5344CB8AC3E}">
        <p14:creationId xmlns:p14="http://schemas.microsoft.com/office/powerpoint/2010/main" val="19452491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5" name="Rectangle 24">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Isosceles Triangle 2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B24AD6A8-336A-40BC-9918-2EBC857B3D3D}"/>
              </a:ext>
            </a:extLst>
          </p:cNvPr>
          <p:cNvSpPr>
            <a:spLocks noGrp="1"/>
          </p:cNvSpPr>
          <p:nvPr>
            <p:ph type="title"/>
          </p:nvPr>
        </p:nvSpPr>
        <p:spPr>
          <a:xfrm>
            <a:off x="677334" y="609600"/>
            <a:ext cx="3843375" cy="5175624"/>
          </a:xfrm>
        </p:spPr>
        <p:txBody>
          <a:bodyPr anchor="ctr">
            <a:normAutofit/>
          </a:bodyPr>
          <a:lstStyle/>
          <a:p>
            <a:r>
              <a:rPr lang="en-IN">
                <a:solidFill>
                  <a:schemeClr val="tx1">
                    <a:lumMod val="85000"/>
                    <a:lumOff val="15000"/>
                  </a:schemeClr>
                </a:solidFill>
              </a:rPr>
              <a:t>METHODOLOGY</a:t>
            </a: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Content Placeholder 2">
            <a:extLst>
              <a:ext uri="{FF2B5EF4-FFF2-40B4-BE49-F238E27FC236}">
                <a16:creationId xmlns:a16="http://schemas.microsoft.com/office/drawing/2014/main" id="{A80CA2CE-8B67-81E3-556F-19D38B5ABE8A}"/>
              </a:ext>
            </a:extLst>
          </p:cNvPr>
          <p:cNvSpPr>
            <a:spLocks noGrp="1"/>
          </p:cNvSpPr>
          <p:nvPr>
            <p:ph idx="1"/>
          </p:nvPr>
        </p:nvSpPr>
        <p:spPr>
          <a:xfrm>
            <a:off x="6116084" y="294640"/>
            <a:ext cx="5511296" cy="6278879"/>
          </a:xfrm>
        </p:spPr>
        <p:txBody>
          <a:bodyPr anchor="ctr">
            <a:normAutofit/>
          </a:bodyPr>
          <a:lstStyle/>
          <a:p>
            <a:pPr>
              <a:lnSpc>
                <a:spcPct val="90000"/>
              </a:lnSpc>
            </a:pPr>
            <a:r>
              <a:rPr lang="en-US" sz="1200" b="1" dirty="0">
                <a:solidFill>
                  <a:srgbClr val="FFFFFF"/>
                </a:solidFill>
              </a:rPr>
              <a:t>Data Collection</a:t>
            </a:r>
            <a:endParaRPr lang="en-US" sz="1200" dirty="0">
              <a:solidFill>
                <a:srgbClr val="FFFFFF"/>
              </a:solidFill>
            </a:endParaRPr>
          </a:p>
          <a:p>
            <a:pPr lvl="1">
              <a:lnSpc>
                <a:spcPct val="90000"/>
              </a:lnSpc>
            </a:pPr>
            <a:r>
              <a:rPr lang="en-US" sz="1200" dirty="0">
                <a:solidFill>
                  <a:srgbClr val="FFFFFF"/>
                </a:solidFill>
              </a:rPr>
              <a:t>Bajaj motorcycle sales dataset (till Sept 2025, pre-policy).</a:t>
            </a:r>
          </a:p>
          <a:p>
            <a:pPr lvl="1">
              <a:lnSpc>
                <a:spcPct val="90000"/>
              </a:lnSpc>
            </a:pPr>
            <a:r>
              <a:rPr lang="en-US" sz="1200" dirty="0">
                <a:solidFill>
                  <a:srgbClr val="FFFFFF"/>
                </a:solidFill>
              </a:rPr>
              <a:t>Post-policy data simulated with revised GST rates.</a:t>
            </a:r>
          </a:p>
          <a:p>
            <a:pPr>
              <a:lnSpc>
                <a:spcPct val="90000"/>
              </a:lnSpc>
            </a:pPr>
            <a:r>
              <a:rPr lang="en-US" sz="1200" b="1" dirty="0">
                <a:solidFill>
                  <a:srgbClr val="FFFFFF"/>
                </a:solidFill>
              </a:rPr>
              <a:t>Data Preparation</a:t>
            </a:r>
            <a:endParaRPr lang="en-US" sz="1200" dirty="0">
              <a:solidFill>
                <a:srgbClr val="FFFFFF"/>
              </a:solidFill>
            </a:endParaRPr>
          </a:p>
          <a:p>
            <a:pPr lvl="1">
              <a:lnSpc>
                <a:spcPct val="90000"/>
              </a:lnSpc>
            </a:pPr>
            <a:r>
              <a:rPr lang="en-US" sz="1200" dirty="0">
                <a:solidFill>
                  <a:srgbClr val="FFFFFF"/>
                </a:solidFill>
              </a:rPr>
              <a:t>Cleaned missing/duplicate values.</a:t>
            </a:r>
          </a:p>
          <a:p>
            <a:pPr lvl="1">
              <a:lnSpc>
                <a:spcPct val="90000"/>
              </a:lnSpc>
            </a:pPr>
            <a:r>
              <a:rPr lang="en-US" sz="1200" dirty="0">
                <a:solidFill>
                  <a:srgbClr val="FFFFFF"/>
                </a:solidFill>
              </a:rPr>
              <a:t>Created segments based on engine capacity (Commuter ≤150cc, Mid 151–350cc, Premium &gt;350cc).</a:t>
            </a:r>
          </a:p>
          <a:p>
            <a:pPr lvl="1">
              <a:lnSpc>
                <a:spcPct val="90000"/>
              </a:lnSpc>
            </a:pPr>
            <a:r>
              <a:rPr lang="en-US" sz="1200" dirty="0">
                <a:solidFill>
                  <a:srgbClr val="FFFFFF"/>
                </a:solidFill>
              </a:rPr>
              <a:t>Added calculated fields: Revenue, Tax %, Pre vs Post comparison.</a:t>
            </a:r>
          </a:p>
          <a:p>
            <a:pPr>
              <a:lnSpc>
                <a:spcPct val="90000"/>
              </a:lnSpc>
            </a:pPr>
            <a:r>
              <a:rPr lang="en-US" sz="1200" b="1" dirty="0">
                <a:solidFill>
                  <a:srgbClr val="FFFFFF"/>
                </a:solidFill>
              </a:rPr>
              <a:t>Exploratory Analysis</a:t>
            </a:r>
            <a:endParaRPr lang="en-US" sz="1200" dirty="0">
              <a:solidFill>
                <a:srgbClr val="FFFFFF"/>
              </a:solidFill>
            </a:endParaRPr>
          </a:p>
          <a:p>
            <a:pPr lvl="1">
              <a:lnSpc>
                <a:spcPct val="90000"/>
              </a:lnSpc>
            </a:pPr>
            <a:r>
              <a:rPr lang="en-US" sz="1200" dirty="0">
                <a:solidFill>
                  <a:srgbClr val="FFFFFF"/>
                </a:solidFill>
              </a:rPr>
              <a:t>Sales &amp; revenue trends over time.</a:t>
            </a:r>
          </a:p>
          <a:p>
            <a:pPr lvl="1">
              <a:lnSpc>
                <a:spcPct val="90000"/>
              </a:lnSpc>
            </a:pPr>
            <a:r>
              <a:rPr lang="en-US" sz="1200" dirty="0">
                <a:solidFill>
                  <a:srgbClr val="FFFFFF"/>
                </a:solidFill>
              </a:rPr>
              <a:t>Segment-wise and model-wise performance.</a:t>
            </a:r>
          </a:p>
          <a:p>
            <a:pPr lvl="1">
              <a:lnSpc>
                <a:spcPct val="90000"/>
              </a:lnSpc>
            </a:pPr>
            <a:r>
              <a:rPr lang="en-US" sz="1200" dirty="0">
                <a:solidFill>
                  <a:srgbClr val="FFFFFF"/>
                </a:solidFill>
              </a:rPr>
              <a:t>Price &amp; tax changes impact.</a:t>
            </a:r>
          </a:p>
          <a:p>
            <a:pPr>
              <a:lnSpc>
                <a:spcPct val="90000"/>
              </a:lnSpc>
            </a:pPr>
            <a:r>
              <a:rPr lang="en-US" sz="1200" b="1" dirty="0">
                <a:solidFill>
                  <a:srgbClr val="FFFFFF"/>
                </a:solidFill>
              </a:rPr>
              <a:t>Comparative Analysis</a:t>
            </a:r>
            <a:endParaRPr lang="en-US" sz="1200" dirty="0">
              <a:solidFill>
                <a:srgbClr val="FFFFFF"/>
              </a:solidFill>
            </a:endParaRPr>
          </a:p>
          <a:p>
            <a:pPr lvl="1">
              <a:lnSpc>
                <a:spcPct val="90000"/>
              </a:lnSpc>
            </a:pPr>
            <a:r>
              <a:rPr lang="en-US" sz="1200" dirty="0">
                <a:solidFill>
                  <a:srgbClr val="FFFFFF"/>
                </a:solidFill>
              </a:rPr>
              <a:t>Pre-policy vs Post-policy differences in sales, prices, and revenue.</a:t>
            </a:r>
          </a:p>
          <a:p>
            <a:pPr lvl="1">
              <a:lnSpc>
                <a:spcPct val="90000"/>
              </a:lnSpc>
            </a:pPr>
            <a:r>
              <a:rPr lang="en-US" sz="1200" dirty="0">
                <a:solidFill>
                  <a:srgbClr val="FFFFFF"/>
                </a:solidFill>
              </a:rPr>
              <a:t>Identified winners (growth) and losers (decline).</a:t>
            </a:r>
          </a:p>
          <a:p>
            <a:pPr>
              <a:lnSpc>
                <a:spcPct val="90000"/>
              </a:lnSpc>
            </a:pPr>
            <a:r>
              <a:rPr lang="en-US" sz="1200" b="1" dirty="0">
                <a:solidFill>
                  <a:srgbClr val="FFFFFF"/>
                </a:solidFill>
              </a:rPr>
              <a:t>Visualization &amp; Dashboards</a:t>
            </a:r>
            <a:endParaRPr lang="en-US" sz="1200" dirty="0">
              <a:solidFill>
                <a:srgbClr val="FFFFFF"/>
              </a:solidFill>
            </a:endParaRPr>
          </a:p>
          <a:p>
            <a:pPr lvl="1">
              <a:lnSpc>
                <a:spcPct val="90000"/>
              </a:lnSpc>
            </a:pPr>
            <a:r>
              <a:rPr lang="en-US" sz="1200" dirty="0">
                <a:solidFill>
                  <a:srgbClr val="FFFFFF"/>
                </a:solidFill>
              </a:rPr>
              <a:t>PivotTables &amp; </a:t>
            </a:r>
            <a:r>
              <a:rPr lang="en-US" sz="1200" dirty="0" err="1">
                <a:solidFill>
                  <a:srgbClr val="FFFFFF"/>
                </a:solidFill>
              </a:rPr>
              <a:t>PivotCharts</a:t>
            </a:r>
            <a:r>
              <a:rPr lang="en-US" sz="1200" dirty="0">
                <a:solidFill>
                  <a:srgbClr val="FFFFFF"/>
                </a:solidFill>
              </a:rPr>
              <a:t> for segment/model insights.</a:t>
            </a:r>
          </a:p>
          <a:p>
            <a:pPr lvl="1">
              <a:lnSpc>
                <a:spcPct val="90000"/>
              </a:lnSpc>
            </a:pPr>
            <a:r>
              <a:rPr lang="en-US" sz="1200" dirty="0">
                <a:solidFill>
                  <a:srgbClr val="FFFFFF"/>
                </a:solidFill>
              </a:rPr>
              <a:t>Interactive dashboards with slicers (Segment, Model, Period).</a:t>
            </a:r>
          </a:p>
          <a:p>
            <a:pPr>
              <a:lnSpc>
                <a:spcPct val="90000"/>
              </a:lnSpc>
            </a:pPr>
            <a:r>
              <a:rPr lang="en-US" sz="1200" b="1" dirty="0">
                <a:solidFill>
                  <a:srgbClr val="FFFFFF"/>
                </a:solidFill>
              </a:rPr>
              <a:t>Insights &amp; Recommendations</a:t>
            </a:r>
            <a:endParaRPr lang="en-US" sz="1200" dirty="0">
              <a:solidFill>
                <a:srgbClr val="FFFFFF"/>
              </a:solidFill>
            </a:endParaRPr>
          </a:p>
          <a:p>
            <a:pPr lvl="1">
              <a:lnSpc>
                <a:spcPct val="90000"/>
              </a:lnSpc>
            </a:pPr>
            <a:r>
              <a:rPr lang="en-US" sz="1200" dirty="0">
                <a:solidFill>
                  <a:srgbClr val="FFFFFF"/>
                </a:solidFill>
              </a:rPr>
              <a:t>Summarized key takeaways.</a:t>
            </a:r>
          </a:p>
          <a:p>
            <a:pPr lvl="1">
              <a:lnSpc>
                <a:spcPct val="90000"/>
              </a:lnSpc>
            </a:pPr>
            <a:r>
              <a:rPr lang="en-US" sz="1200" dirty="0">
                <a:solidFill>
                  <a:srgbClr val="FFFFFF"/>
                </a:solidFill>
              </a:rPr>
              <a:t>Suggested production, pricing, and marketing strategies.</a:t>
            </a:r>
          </a:p>
          <a:p>
            <a:pPr>
              <a:lnSpc>
                <a:spcPct val="90000"/>
              </a:lnSpc>
            </a:pPr>
            <a:endParaRPr lang="en-IN" sz="700" dirty="0">
              <a:solidFill>
                <a:srgbClr val="FFFFFF"/>
              </a:solidFill>
            </a:endParaRPr>
          </a:p>
        </p:txBody>
      </p:sp>
    </p:spTree>
    <p:extLst>
      <p:ext uri="{BB962C8B-B14F-4D97-AF65-F5344CB8AC3E}">
        <p14:creationId xmlns:p14="http://schemas.microsoft.com/office/powerpoint/2010/main" val="4956772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close up of a motorcycle tire on a dusty dirt road">
            <a:extLst>
              <a:ext uri="{FF2B5EF4-FFF2-40B4-BE49-F238E27FC236}">
                <a16:creationId xmlns:a16="http://schemas.microsoft.com/office/drawing/2014/main" id="{F492871A-6435-6E75-932D-7E9406BC2DEB}"/>
              </a:ext>
            </a:extLst>
          </p:cNvPr>
          <p:cNvPicPr>
            <a:picLocks noChangeAspect="1"/>
          </p:cNvPicPr>
          <p:nvPr/>
        </p:nvPicPr>
        <p:blipFill>
          <a:blip r:embed="rId2"/>
          <a:srcRect l="13428" r="36816" b="1"/>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le 1">
            <a:extLst>
              <a:ext uri="{FF2B5EF4-FFF2-40B4-BE49-F238E27FC236}">
                <a16:creationId xmlns:a16="http://schemas.microsoft.com/office/drawing/2014/main" id="{6C6C20E8-DB12-0E6F-540E-759BC43BFE3A}"/>
              </a:ext>
            </a:extLst>
          </p:cNvPr>
          <p:cNvSpPr>
            <a:spLocks noGrp="1"/>
          </p:cNvSpPr>
          <p:nvPr>
            <p:ph type="title"/>
          </p:nvPr>
        </p:nvSpPr>
        <p:spPr>
          <a:xfrm>
            <a:off x="5661829" y="143933"/>
            <a:ext cx="3737268" cy="1320800"/>
          </a:xfrm>
        </p:spPr>
        <p:txBody>
          <a:bodyPr>
            <a:normAutofit/>
          </a:bodyPr>
          <a:lstStyle/>
          <a:p>
            <a:r>
              <a:rPr lang="en-IN" dirty="0"/>
              <a:t>PROBLEM STATEMENTS</a:t>
            </a:r>
          </a:p>
        </p:txBody>
      </p:sp>
      <p:sp>
        <p:nvSpPr>
          <p:cNvPr id="47" name="Content Placeholder 2">
            <a:extLst>
              <a:ext uri="{FF2B5EF4-FFF2-40B4-BE49-F238E27FC236}">
                <a16:creationId xmlns:a16="http://schemas.microsoft.com/office/drawing/2014/main" id="{1BB1A7AC-E6EB-F324-2482-2068BCF85CBB}"/>
              </a:ext>
            </a:extLst>
          </p:cNvPr>
          <p:cNvSpPr>
            <a:spLocks noGrp="1"/>
          </p:cNvSpPr>
          <p:nvPr>
            <p:ph idx="1"/>
          </p:nvPr>
        </p:nvSpPr>
        <p:spPr>
          <a:xfrm>
            <a:off x="5113867" y="1845733"/>
            <a:ext cx="4521200" cy="4064000"/>
          </a:xfrm>
        </p:spPr>
        <p:txBody>
          <a:bodyPr>
            <a:normAutofit lnSpcReduction="10000"/>
          </a:bodyPr>
          <a:lstStyle/>
          <a:p>
            <a:pPr>
              <a:lnSpc>
                <a:spcPct val="90000"/>
              </a:lnSpc>
            </a:pPr>
            <a:r>
              <a:rPr lang="en-US" sz="1000" dirty="0"/>
              <a:t>Which bike segments show a clear increase in demand post-policy, and should Bajaj scale up production in those categories?</a:t>
            </a:r>
          </a:p>
          <a:p>
            <a:pPr>
              <a:lnSpc>
                <a:spcPct val="90000"/>
              </a:lnSpc>
            </a:pPr>
            <a:endParaRPr lang="en-US" sz="1000" dirty="0"/>
          </a:p>
          <a:p>
            <a:pPr>
              <a:lnSpc>
                <a:spcPct val="90000"/>
              </a:lnSpc>
            </a:pPr>
            <a:r>
              <a:rPr lang="en-US" sz="1000" dirty="0"/>
              <a:t>Which segments are showing declining demand, and should Bajaj reduce production or reposition those models?</a:t>
            </a:r>
          </a:p>
          <a:p>
            <a:pPr>
              <a:lnSpc>
                <a:spcPct val="90000"/>
              </a:lnSpc>
            </a:pPr>
            <a:endParaRPr lang="en-US" sz="1000" dirty="0"/>
          </a:p>
          <a:p>
            <a:pPr>
              <a:lnSpc>
                <a:spcPct val="90000"/>
              </a:lnSpc>
            </a:pPr>
            <a:r>
              <a:rPr lang="en-US" sz="1000" dirty="0"/>
              <a:t>Which top 10 models gained the most sales after the policy, and should Bajaj prioritize marketing &amp; dealership push for them?</a:t>
            </a:r>
          </a:p>
          <a:p>
            <a:pPr>
              <a:lnSpc>
                <a:spcPct val="90000"/>
              </a:lnSpc>
            </a:pPr>
            <a:endParaRPr lang="en-US" sz="1000" dirty="0"/>
          </a:p>
          <a:p>
            <a:pPr>
              <a:lnSpc>
                <a:spcPct val="90000"/>
              </a:lnSpc>
            </a:pPr>
            <a:r>
              <a:rPr lang="en-US" sz="1000" dirty="0"/>
              <a:t>Which models suffered the biggest sales drop post-policy, and should Bajaj introduce offers/finance schemes to protect their demand?</a:t>
            </a:r>
          </a:p>
          <a:p>
            <a:pPr>
              <a:lnSpc>
                <a:spcPct val="90000"/>
              </a:lnSpc>
            </a:pPr>
            <a:endParaRPr lang="en-US" sz="1000" dirty="0"/>
          </a:p>
          <a:p>
            <a:pPr>
              <a:lnSpc>
                <a:spcPct val="90000"/>
              </a:lnSpc>
            </a:pPr>
            <a:r>
              <a:rPr lang="en-US" sz="1000" dirty="0"/>
              <a:t>How much additional revenue was generated due to increased demand in commuter bikes?</a:t>
            </a:r>
          </a:p>
          <a:p>
            <a:pPr>
              <a:lnSpc>
                <a:spcPct val="90000"/>
              </a:lnSpc>
            </a:pPr>
            <a:endParaRPr lang="en-US" sz="1000" dirty="0"/>
          </a:p>
          <a:p>
            <a:pPr>
              <a:lnSpc>
                <a:spcPct val="90000"/>
              </a:lnSpc>
            </a:pPr>
            <a:r>
              <a:rPr lang="en-US" sz="1000" dirty="0"/>
              <a:t>What was the AVERAGE price change across segments?</a:t>
            </a:r>
          </a:p>
          <a:p>
            <a:pPr>
              <a:lnSpc>
                <a:spcPct val="90000"/>
              </a:lnSpc>
            </a:pPr>
            <a:endParaRPr lang="en-US" sz="1000" dirty="0"/>
          </a:p>
          <a:p>
            <a:pPr>
              <a:lnSpc>
                <a:spcPct val="90000"/>
              </a:lnSpc>
            </a:pPr>
            <a:r>
              <a:rPr lang="en-US" sz="1000" dirty="0"/>
              <a:t>Which segment faced the steepest tax hike, and does Bajaj need to adjust pricing/marketing strategies to retain buyers in that segment?</a:t>
            </a:r>
          </a:p>
          <a:p>
            <a:pPr>
              <a:lnSpc>
                <a:spcPct val="90000"/>
              </a:lnSpc>
            </a:pPr>
            <a:endParaRPr lang="en-US" sz="1000" dirty="0"/>
          </a:p>
          <a:p>
            <a:pPr>
              <a:lnSpc>
                <a:spcPct val="90000"/>
              </a:lnSpc>
            </a:pPr>
            <a:endParaRPr lang="en-IN" sz="700" dirty="0"/>
          </a:p>
        </p:txBody>
      </p:sp>
      <p:sp>
        <p:nvSpPr>
          <p:cNvPr id="54" name="Isosceles Triangle 5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6888238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Isosceles Triangle 52">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C60AF606-C40E-0A61-A75A-5A0381852F27}"/>
              </a:ext>
            </a:extLst>
          </p:cNvPr>
          <p:cNvSpPr>
            <a:spLocks noGrp="1"/>
          </p:cNvSpPr>
          <p:nvPr>
            <p:ph type="title"/>
          </p:nvPr>
        </p:nvSpPr>
        <p:spPr>
          <a:xfrm>
            <a:off x="673754" y="643467"/>
            <a:ext cx="4203045" cy="1375608"/>
          </a:xfrm>
        </p:spPr>
        <p:txBody>
          <a:bodyPr vert="horz" lIns="91440" tIns="45720" rIns="91440" bIns="45720" rtlCol="0" anchor="ctr">
            <a:normAutofit/>
          </a:bodyPr>
          <a:lstStyle/>
          <a:p>
            <a:pPr>
              <a:lnSpc>
                <a:spcPct val="90000"/>
              </a:lnSpc>
            </a:pPr>
            <a:r>
              <a:rPr lang="en-US" sz="1400" b="1" dirty="0">
                <a:solidFill>
                  <a:schemeClr val="bg1"/>
                </a:solidFill>
              </a:rPr>
              <a:t>PROBLEM STATEMENT 1</a:t>
            </a:r>
            <a:br>
              <a:rPr lang="en-US" sz="1400" dirty="0">
                <a:solidFill>
                  <a:schemeClr val="bg1"/>
                </a:solidFill>
              </a:rPr>
            </a:br>
            <a:r>
              <a:rPr lang="en-US" sz="1400" dirty="0">
                <a:solidFill>
                  <a:schemeClr val="bg1"/>
                </a:solidFill>
              </a:rPr>
              <a:t>Which bike segments show a clear increase in demand post-policy, and should Bajaj scale up production in those categories ?</a:t>
            </a:r>
            <a:br>
              <a:rPr lang="en-US" sz="1400" dirty="0">
                <a:solidFill>
                  <a:schemeClr val="bg1"/>
                </a:solidFill>
              </a:rPr>
            </a:br>
            <a:endParaRPr lang="en-US" sz="1400" dirty="0">
              <a:solidFill>
                <a:schemeClr val="bg1"/>
              </a:solidFill>
            </a:endParaRPr>
          </a:p>
        </p:txBody>
      </p:sp>
      <p:sp>
        <p:nvSpPr>
          <p:cNvPr id="8" name="TextBox 7">
            <a:extLst>
              <a:ext uri="{FF2B5EF4-FFF2-40B4-BE49-F238E27FC236}">
                <a16:creationId xmlns:a16="http://schemas.microsoft.com/office/drawing/2014/main" id="{430CE8FC-7D4E-BCBD-B50A-C5A1D203FD9D}"/>
              </a:ext>
            </a:extLst>
          </p:cNvPr>
          <p:cNvSpPr txBox="1"/>
          <p:nvPr/>
        </p:nvSpPr>
        <p:spPr>
          <a:xfrm>
            <a:off x="673754" y="2160590"/>
            <a:ext cx="3973943" cy="3440110"/>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dirty="0">
                <a:solidFill>
                  <a:schemeClr val="bg1"/>
                </a:solidFill>
              </a:rPr>
              <a:t>The Commuter segment has the most increase in demand post-policy as shown in the chart,</a:t>
            </a:r>
          </a:p>
          <a:p>
            <a:pPr>
              <a:spcBef>
                <a:spcPts val="1000"/>
              </a:spcBef>
              <a:buClr>
                <a:schemeClr val="accent1"/>
              </a:buClr>
              <a:buSzPct val="80000"/>
              <a:buFont typeface="Wingdings 3" charset="2"/>
              <a:buChar char=""/>
            </a:pPr>
            <a:r>
              <a:rPr lang="en-US" dirty="0">
                <a:solidFill>
                  <a:schemeClr val="bg1"/>
                </a:solidFill>
              </a:rPr>
              <a:t> Hence yes Bajaj should scale up the production in the commuter category!</a:t>
            </a:r>
          </a:p>
        </p:txBody>
      </p:sp>
      <p:pic>
        <p:nvPicPr>
          <p:cNvPr id="7" name="Content Placeholder 6">
            <a:extLst>
              <a:ext uri="{FF2B5EF4-FFF2-40B4-BE49-F238E27FC236}">
                <a16:creationId xmlns:a16="http://schemas.microsoft.com/office/drawing/2014/main" id="{9975A1BA-620D-6BAD-422A-E9F27AA85613}"/>
              </a:ext>
            </a:extLst>
          </p:cNvPr>
          <p:cNvPicPr>
            <a:picLocks noGrp="1" noChangeAspect="1"/>
          </p:cNvPicPr>
          <p:nvPr>
            <p:ph idx="1"/>
          </p:nvPr>
        </p:nvPicPr>
        <p:blipFill>
          <a:blip r:embed="rId2"/>
          <a:stretch>
            <a:fillRect/>
          </a:stretch>
        </p:blipFill>
        <p:spPr>
          <a:xfrm>
            <a:off x="4867215" y="1823863"/>
            <a:ext cx="7105154" cy="3210273"/>
          </a:xfrm>
          <a:prstGeom prst="rect">
            <a:avLst/>
          </a:prstGeom>
          <a:effectLst>
            <a:outerShdw blurRad="50800" dist="38100" dir="2700000" algn="tl" rotWithShape="0">
              <a:prstClr val="black">
                <a:alpha val="40000"/>
              </a:prstClr>
            </a:outerShdw>
          </a:effectLst>
        </p:spPr>
      </p:pic>
      <p:sp>
        <p:nvSpPr>
          <p:cNvPr id="55" name="Isosceles Triangle 54">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14546763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AA53CD-833A-677F-1F7E-C3CD1F20AFAB}"/>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6C28ADDA-F2F1-D921-9A94-D7E1AB6BF8AE}"/>
              </a:ext>
            </a:extLst>
          </p:cNvPr>
          <p:cNvSpPr>
            <a:spLocks noGrp="1"/>
          </p:cNvSpPr>
          <p:nvPr>
            <p:ph type="title"/>
          </p:nvPr>
        </p:nvSpPr>
        <p:spPr>
          <a:xfrm>
            <a:off x="673754" y="643467"/>
            <a:ext cx="4203045" cy="1375608"/>
          </a:xfrm>
        </p:spPr>
        <p:txBody>
          <a:bodyPr vert="horz" lIns="91440" tIns="45720" rIns="91440" bIns="45720" rtlCol="0" anchor="ctr">
            <a:normAutofit/>
          </a:bodyPr>
          <a:lstStyle/>
          <a:p>
            <a:pPr>
              <a:lnSpc>
                <a:spcPct val="90000"/>
              </a:lnSpc>
            </a:pPr>
            <a:r>
              <a:rPr lang="en-US" sz="1400" b="1" dirty="0">
                <a:solidFill>
                  <a:schemeClr val="bg1"/>
                </a:solidFill>
              </a:rPr>
              <a:t>PROBLEM STATEMENT 2</a:t>
            </a:r>
            <a:br>
              <a:rPr lang="en-US" sz="1400" dirty="0">
                <a:solidFill>
                  <a:schemeClr val="bg1"/>
                </a:solidFill>
              </a:rPr>
            </a:br>
            <a:r>
              <a:rPr lang="en-US" sz="1400" dirty="0">
                <a:solidFill>
                  <a:schemeClr val="bg1"/>
                </a:solidFill>
              </a:rPr>
              <a:t>Which segments are showing declining demand, and should Bajaj reduce production or reposition those models?</a:t>
            </a:r>
            <a:br>
              <a:rPr lang="en-US" sz="1400" dirty="0">
                <a:solidFill>
                  <a:schemeClr val="bg1"/>
                </a:solidFill>
              </a:rPr>
            </a:br>
            <a:endParaRPr lang="en-US" sz="1400" dirty="0">
              <a:solidFill>
                <a:schemeClr val="bg1"/>
              </a:solidFill>
            </a:endParaRPr>
          </a:p>
        </p:txBody>
      </p:sp>
      <p:sp>
        <p:nvSpPr>
          <p:cNvPr id="8" name="TextBox 7">
            <a:extLst>
              <a:ext uri="{FF2B5EF4-FFF2-40B4-BE49-F238E27FC236}">
                <a16:creationId xmlns:a16="http://schemas.microsoft.com/office/drawing/2014/main" id="{0708269E-608F-EFD9-191F-BD6AB7119407}"/>
              </a:ext>
            </a:extLst>
          </p:cNvPr>
          <p:cNvSpPr txBox="1"/>
          <p:nvPr/>
        </p:nvSpPr>
        <p:spPr>
          <a:xfrm>
            <a:off x="673754" y="2160590"/>
            <a:ext cx="3973943" cy="3440110"/>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dirty="0">
                <a:solidFill>
                  <a:schemeClr val="bg1"/>
                </a:solidFill>
              </a:rPr>
              <a:t>The Premium segment has been in decline post-policy as shown in the chart,</a:t>
            </a:r>
          </a:p>
          <a:p>
            <a:pPr>
              <a:spcBef>
                <a:spcPts val="1000"/>
              </a:spcBef>
              <a:buClr>
                <a:schemeClr val="accent1"/>
              </a:buClr>
              <a:buSzPct val="80000"/>
              <a:buFont typeface="Wingdings 3" charset="2"/>
              <a:buChar char=""/>
            </a:pPr>
            <a:r>
              <a:rPr lang="en-US" dirty="0">
                <a:solidFill>
                  <a:schemeClr val="bg1"/>
                </a:solidFill>
              </a:rPr>
              <a:t> Hence yes Bajaj should reduce the production in the premium segment or reposition these models!</a:t>
            </a:r>
          </a:p>
        </p:txBody>
      </p:sp>
      <p:pic>
        <p:nvPicPr>
          <p:cNvPr id="7" name="Content Placeholder 6">
            <a:extLst>
              <a:ext uri="{FF2B5EF4-FFF2-40B4-BE49-F238E27FC236}">
                <a16:creationId xmlns:a16="http://schemas.microsoft.com/office/drawing/2014/main" id="{228792E8-B01C-A5ED-20D8-6D2056B6FDEF}"/>
              </a:ext>
            </a:extLst>
          </p:cNvPr>
          <p:cNvPicPr>
            <a:picLocks noGrp="1" noChangeAspect="1"/>
          </p:cNvPicPr>
          <p:nvPr>
            <p:ph idx="1"/>
          </p:nvPr>
        </p:nvPicPr>
        <p:blipFill>
          <a:blip r:embed="rId2"/>
          <a:stretch>
            <a:fillRect/>
          </a:stretch>
        </p:blipFill>
        <p:spPr>
          <a:xfrm>
            <a:off x="4876799" y="1735668"/>
            <a:ext cx="7083141" cy="3269328"/>
          </a:xfrm>
          <a:prstGeom prst="rect">
            <a:avLst/>
          </a:prstGeom>
        </p:spPr>
      </p:pic>
      <p:sp>
        <p:nvSpPr>
          <p:cNvPr id="19" name="Isosceles Triangle 18">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8608575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AA7A1E-7A45-EB63-1BB2-601CE1E10234}"/>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F80DD5BB-E8AB-DFA6-00EB-EA0DCCEC0D0A}"/>
              </a:ext>
            </a:extLst>
          </p:cNvPr>
          <p:cNvSpPr>
            <a:spLocks noGrp="1"/>
          </p:cNvSpPr>
          <p:nvPr>
            <p:ph type="title"/>
          </p:nvPr>
        </p:nvSpPr>
        <p:spPr>
          <a:xfrm>
            <a:off x="673754" y="643467"/>
            <a:ext cx="4203045" cy="1375608"/>
          </a:xfrm>
        </p:spPr>
        <p:txBody>
          <a:bodyPr vert="horz" lIns="91440" tIns="45720" rIns="91440" bIns="45720" rtlCol="0" anchor="ctr">
            <a:normAutofit/>
          </a:bodyPr>
          <a:lstStyle/>
          <a:p>
            <a:pPr>
              <a:lnSpc>
                <a:spcPct val="90000"/>
              </a:lnSpc>
            </a:pPr>
            <a:r>
              <a:rPr lang="en-US" sz="1400" b="1">
                <a:solidFill>
                  <a:schemeClr val="bg1"/>
                </a:solidFill>
              </a:rPr>
              <a:t>PROBLEM STATEMENT 3</a:t>
            </a:r>
            <a:br>
              <a:rPr lang="en-US" sz="1400">
                <a:solidFill>
                  <a:schemeClr val="bg1"/>
                </a:solidFill>
              </a:rPr>
            </a:br>
            <a:r>
              <a:rPr lang="en-US" sz="1400">
                <a:solidFill>
                  <a:schemeClr val="bg1"/>
                </a:solidFill>
              </a:rPr>
              <a:t>Which top 10 models gained the most sales after the policy, and should Bajaj prioritize marketing &amp; dealership push for them?</a:t>
            </a:r>
            <a:br>
              <a:rPr lang="en-US" sz="1400">
                <a:solidFill>
                  <a:schemeClr val="bg1"/>
                </a:solidFill>
              </a:rPr>
            </a:br>
            <a:endParaRPr lang="en-US" sz="1400">
              <a:solidFill>
                <a:schemeClr val="bg1"/>
              </a:solidFill>
            </a:endParaRPr>
          </a:p>
        </p:txBody>
      </p:sp>
      <p:sp>
        <p:nvSpPr>
          <p:cNvPr id="4" name="Content Placeholder 3">
            <a:extLst>
              <a:ext uri="{FF2B5EF4-FFF2-40B4-BE49-F238E27FC236}">
                <a16:creationId xmlns:a16="http://schemas.microsoft.com/office/drawing/2014/main" id="{4705C2F6-E957-33F9-5E0D-3C495DA2B77B}"/>
              </a:ext>
            </a:extLst>
          </p:cNvPr>
          <p:cNvSpPr>
            <a:spLocks noGrp="1"/>
          </p:cNvSpPr>
          <p:nvPr>
            <p:ph idx="1"/>
          </p:nvPr>
        </p:nvSpPr>
        <p:spPr>
          <a:xfrm>
            <a:off x="673754" y="2160590"/>
            <a:ext cx="3973943" cy="3440110"/>
          </a:xfrm>
        </p:spPr>
        <p:txBody>
          <a:bodyPr vert="horz" lIns="91440" tIns="45720" rIns="91440" bIns="45720" rtlCol="0">
            <a:normAutofit/>
          </a:bodyPr>
          <a:lstStyle/>
          <a:p>
            <a:r>
              <a:rPr lang="en-US" dirty="0">
                <a:solidFill>
                  <a:schemeClr val="bg1"/>
                </a:solidFill>
              </a:rPr>
              <a:t>The following are the top 10 models of bikes by Bajaj which gained the most sales post-policy.</a:t>
            </a:r>
          </a:p>
          <a:p>
            <a:r>
              <a:rPr lang="en-US" dirty="0">
                <a:solidFill>
                  <a:schemeClr val="bg1"/>
                </a:solidFill>
              </a:rPr>
              <a:t>Yes Bajaj should prioritize marketing&amp; dealership push for such models</a:t>
            </a:r>
          </a:p>
        </p:txBody>
      </p:sp>
      <p:pic>
        <p:nvPicPr>
          <p:cNvPr id="6" name="Picture 5">
            <a:extLst>
              <a:ext uri="{FF2B5EF4-FFF2-40B4-BE49-F238E27FC236}">
                <a16:creationId xmlns:a16="http://schemas.microsoft.com/office/drawing/2014/main" id="{00A8787D-BC76-7B24-935B-1CD4784552AA}"/>
              </a:ext>
            </a:extLst>
          </p:cNvPr>
          <p:cNvPicPr>
            <a:picLocks noChangeAspect="1"/>
          </p:cNvPicPr>
          <p:nvPr/>
        </p:nvPicPr>
        <p:blipFill>
          <a:blip r:embed="rId2"/>
          <a:stretch>
            <a:fillRect/>
          </a:stretch>
        </p:blipFill>
        <p:spPr>
          <a:xfrm>
            <a:off x="4876799" y="1840232"/>
            <a:ext cx="7022165" cy="3177530"/>
          </a:xfrm>
          <a:prstGeom prst="rect">
            <a:avLst/>
          </a:prstGeom>
          <a:effectLst>
            <a:outerShdw blurRad="50800" dist="38100" dir="2700000" algn="tl" rotWithShape="0">
              <a:prstClr val="black">
                <a:alpha val="40000"/>
              </a:prstClr>
            </a:outerShdw>
          </a:effectLst>
        </p:spPr>
      </p:pic>
      <p:sp>
        <p:nvSpPr>
          <p:cNvPr id="30" name="Isosceles Triangle 29">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798502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F3EF94-4350-A37A-4499-69E1EB3D987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3E6EF8C0-B8A2-CADD-78D7-6121EBF1CA73}"/>
              </a:ext>
            </a:extLst>
          </p:cNvPr>
          <p:cNvSpPr>
            <a:spLocks noGrp="1"/>
          </p:cNvSpPr>
          <p:nvPr>
            <p:ph type="title"/>
          </p:nvPr>
        </p:nvSpPr>
        <p:spPr>
          <a:xfrm>
            <a:off x="673754" y="643467"/>
            <a:ext cx="4203045" cy="1375608"/>
          </a:xfrm>
        </p:spPr>
        <p:txBody>
          <a:bodyPr vert="horz" lIns="91440" tIns="45720" rIns="91440" bIns="45720" rtlCol="0" anchor="ctr">
            <a:normAutofit/>
          </a:bodyPr>
          <a:lstStyle/>
          <a:p>
            <a:pPr>
              <a:lnSpc>
                <a:spcPct val="90000"/>
              </a:lnSpc>
            </a:pPr>
            <a:r>
              <a:rPr lang="en-US" sz="1400" b="1" dirty="0">
                <a:solidFill>
                  <a:schemeClr val="bg1"/>
                </a:solidFill>
              </a:rPr>
              <a:t>PROBLEM STATEMENT 4</a:t>
            </a:r>
            <a:br>
              <a:rPr lang="en-US" sz="1400" dirty="0">
                <a:solidFill>
                  <a:schemeClr val="bg1"/>
                </a:solidFill>
              </a:rPr>
            </a:br>
            <a:r>
              <a:rPr lang="en-US" sz="1400" dirty="0">
                <a:solidFill>
                  <a:schemeClr val="bg1"/>
                </a:solidFill>
              </a:rPr>
              <a:t>Which models suffered the biggest sales drop post-policy, and should Bajaj introduce offers/finance schemes to protect their demand?</a:t>
            </a:r>
          </a:p>
        </p:txBody>
      </p:sp>
      <p:sp>
        <p:nvSpPr>
          <p:cNvPr id="4" name="Content Placeholder 3">
            <a:extLst>
              <a:ext uri="{FF2B5EF4-FFF2-40B4-BE49-F238E27FC236}">
                <a16:creationId xmlns:a16="http://schemas.microsoft.com/office/drawing/2014/main" id="{86D4C992-76FC-EF71-9B68-FAB0F30AC7FC}"/>
              </a:ext>
            </a:extLst>
          </p:cNvPr>
          <p:cNvSpPr>
            <a:spLocks noGrp="1"/>
          </p:cNvSpPr>
          <p:nvPr>
            <p:ph idx="1"/>
          </p:nvPr>
        </p:nvSpPr>
        <p:spPr>
          <a:xfrm>
            <a:off x="673754" y="2160590"/>
            <a:ext cx="3973943" cy="3440110"/>
          </a:xfrm>
        </p:spPr>
        <p:txBody>
          <a:bodyPr vert="horz" lIns="91440" tIns="45720" rIns="91440" bIns="45720" rtlCol="0">
            <a:normAutofit/>
          </a:bodyPr>
          <a:lstStyle/>
          <a:p>
            <a:r>
              <a:rPr lang="en-US" dirty="0">
                <a:solidFill>
                  <a:schemeClr val="bg1"/>
                </a:solidFill>
              </a:rPr>
              <a:t>The following are the bottom 10 models of bikes by Bajaj which had the least sales post-policy.</a:t>
            </a:r>
          </a:p>
          <a:p>
            <a:r>
              <a:rPr lang="en-US" dirty="0">
                <a:solidFill>
                  <a:schemeClr val="bg1"/>
                </a:solidFill>
              </a:rPr>
              <a:t>Yes Bajaj should introduce offers/finance schemes to protect their demand.</a:t>
            </a:r>
          </a:p>
        </p:txBody>
      </p:sp>
      <p:sp>
        <p:nvSpPr>
          <p:cNvPr id="17" name="Isosceles Triangle 1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5" name="Picture 4">
            <a:extLst>
              <a:ext uri="{FF2B5EF4-FFF2-40B4-BE49-F238E27FC236}">
                <a16:creationId xmlns:a16="http://schemas.microsoft.com/office/drawing/2014/main" id="{5BED1121-8455-7DD1-A810-F6E824FAFADF}"/>
              </a:ext>
            </a:extLst>
          </p:cNvPr>
          <p:cNvPicPr>
            <a:picLocks noChangeAspect="1"/>
          </p:cNvPicPr>
          <p:nvPr/>
        </p:nvPicPr>
        <p:blipFill>
          <a:blip r:embed="rId2"/>
          <a:stretch>
            <a:fillRect/>
          </a:stretch>
        </p:blipFill>
        <p:spPr>
          <a:xfrm>
            <a:off x="4876799" y="2147095"/>
            <a:ext cx="7103681" cy="256381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6111754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29F87E-6573-7C3A-DD54-EA767795F79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C3136DE8-3D8F-CBBB-E255-6306C272E931}"/>
              </a:ext>
            </a:extLst>
          </p:cNvPr>
          <p:cNvSpPr>
            <a:spLocks noGrp="1"/>
          </p:cNvSpPr>
          <p:nvPr>
            <p:ph type="title"/>
          </p:nvPr>
        </p:nvSpPr>
        <p:spPr>
          <a:xfrm>
            <a:off x="673754" y="643467"/>
            <a:ext cx="4203045" cy="1375608"/>
          </a:xfrm>
        </p:spPr>
        <p:txBody>
          <a:bodyPr vert="horz" lIns="91440" tIns="45720" rIns="91440" bIns="45720" rtlCol="0" anchor="ctr">
            <a:normAutofit/>
          </a:bodyPr>
          <a:lstStyle/>
          <a:p>
            <a:pPr>
              <a:lnSpc>
                <a:spcPct val="90000"/>
              </a:lnSpc>
            </a:pPr>
            <a:r>
              <a:rPr lang="en-US" sz="1700" b="1" dirty="0">
                <a:solidFill>
                  <a:schemeClr val="bg1"/>
                </a:solidFill>
              </a:rPr>
              <a:t>PROBLEM STATEMENT 5</a:t>
            </a:r>
            <a:br>
              <a:rPr lang="en-US" sz="1700" dirty="0">
                <a:solidFill>
                  <a:schemeClr val="bg1"/>
                </a:solidFill>
              </a:rPr>
            </a:br>
            <a:r>
              <a:rPr lang="en-US" sz="1700" dirty="0">
                <a:solidFill>
                  <a:schemeClr val="bg1"/>
                </a:solidFill>
              </a:rPr>
              <a:t>How much additional revenue was generated due to increased demand in commuter bikes?</a:t>
            </a:r>
          </a:p>
        </p:txBody>
      </p:sp>
      <p:sp>
        <p:nvSpPr>
          <p:cNvPr id="4" name="Content Placeholder 3">
            <a:extLst>
              <a:ext uri="{FF2B5EF4-FFF2-40B4-BE49-F238E27FC236}">
                <a16:creationId xmlns:a16="http://schemas.microsoft.com/office/drawing/2014/main" id="{0FD18221-AEC0-B5F1-9772-BB06F62885D1}"/>
              </a:ext>
            </a:extLst>
          </p:cNvPr>
          <p:cNvSpPr>
            <a:spLocks noGrp="1"/>
          </p:cNvSpPr>
          <p:nvPr>
            <p:ph idx="1"/>
          </p:nvPr>
        </p:nvSpPr>
        <p:spPr>
          <a:xfrm>
            <a:off x="673754" y="2160590"/>
            <a:ext cx="3973943" cy="3440110"/>
          </a:xfrm>
        </p:spPr>
        <p:txBody>
          <a:bodyPr vert="horz" lIns="91440" tIns="45720" rIns="91440" bIns="45720" rtlCol="0">
            <a:normAutofit/>
          </a:bodyPr>
          <a:lstStyle/>
          <a:p>
            <a:r>
              <a:rPr lang="en-US" dirty="0">
                <a:solidFill>
                  <a:schemeClr val="bg1"/>
                </a:solidFill>
              </a:rPr>
              <a:t>With help of formulas in excel the additional revenue was calculated as “=[</a:t>
            </a:r>
            <a:r>
              <a:rPr lang="en-US" dirty="0" err="1">
                <a:solidFill>
                  <a:schemeClr val="bg1"/>
                </a:solidFill>
              </a:rPr>
              <a:t>pre_policy_revenue</a:t>
            </a:r>
            <a:r>
              <a:rPr lang="en-US" dirty="0">
                <a:solidFill>
                  <a:schemeClr val="bg1"/>
                </a:solidFill>
              </a:rPr>
              <a:t>]-[</a:t>
            </a:r>
            <a:r>
              <a:rPr lang="en-US" dirty="0" err="1">
                <a:solidFill>
                  <a:schemeClr val="bg1"/>
                </a:solidFill>
              </a:rPr>
              <a:t>post_policy_revenue</a:t>
            </a:r>
            <a:r>
              <a:rPr lang="en-US" dirty="0">
                <a:solidFill>
                  <a:schemeClr val="bg1"/>
                </a:solidFill>
              </a:rPr>
              <a:t>]”</a:t>
            </a:r>
          </a:p>
          <a:p>
            <a:r>
              <a:rPr lang="en-US" dirty="0">
                <a:solidFill>
                  <a:schemeClr val="bg1"/>
                </a:solidFill>
              </a:rPr>
              <a:t>After using the formula, the calculated additional revenue for commuter bikes is </a:t>
            </a:r>
            <a:r>
              <a:rPr lang="en-IN" b="1" dirty="0">
                <a:solidFill>
                  <a:schemeClr val="bg1"/>
                </a:solidFill>
              </a:rPr>
              <a:t>₹ 76B </a:t>
            </a:r>
          </a:p>
          <a:p>
            <a:endParaRPr lang="en-US" dirty="0">
              <a:solidFill>
                <a:schemeClr val="bg1"/>
              </a:solidFill>
            </a:endParaRPr>
          </a:p>
        </p:txBody>
      </p:sp>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6" name="Picture 5">
            <a:extLst>
              <a:ext uri="{FF2B5EF4-FFF2-40B4-BE49-F238E27FC236}">
                <a16:creationId xmlns:a16="http://schemas.microsoft.com/office/drawing/2014/main" id="{F1D4C35B-6C4A-A6CD-26C0-A5E81FFE7D52}"/>
              </a:ext>
            </a:extLst>
          </p:cNvPr>
          <p:cNvPicPr>
            <a:picLocks noChangeAspect="1"/>
          </p:cNvPicPr>
          <p:nvPr/>
        </p:nvPicPr>
        <p:blipFill>
          <a:blip r:embed="rId2"/>
          <a:stretch>
            <a:fillRect/>
          </a:stretch>
        </p:blipFill>
        <p:spPr>
          <a:xfrm>
            <a:off x="4876799" y="3024128"/>
            <a:ext cx="6858957" cy="80973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8548310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537134-A8C3-1303-78B2-F8271819626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06FE094F-9E46-FD5C-B207-A9D1CCDC5436}"/>
              </a:ext>
            </a:extLst>
          </p:cNvPr>
          <p:cNvSpPr>
            <a:spLocks noGrp="1"/>
          </p:cNvSpPr>
          <p:nvPr>
            <p:ph type="title"/>
          </p:nvPr>
        </p:nvSpPr>
        <p:spPr>
          <a:xfrm>
            <a:off x="673754" y="643467"/>
            <a:ext cx="4203045" cy="1375608"/>
          </a:xfrm>
        </p:spPr>
        <p:txBody>
          <a:bodyPr vert="horz" lIns="91440" tIns="45720" rIns="91440" bIns="45720" rtlCol="0" anchor="ctr">
            <a:normAutofit/>
          </a:bodyPr>
          <a:lstStyle/>
          <a:p>
            <a:pPr>
              <a:lnSpc>
                <a:spcPct val="90000"/>
              </a:lnSpc>
            </a:pPr>
            <a:r>
              <a:rPr lang="en-US" sz="2000" b="1" dirty="0">
                <a:solidFill>
                  <a:schemeClr val="bg1"/>
                </a:solidFill>
              </a:rPr>
              <a:t>PROBLEM STATEMENT 6</a:t>
            </a:r>
            <a:br>
              <a:rPr lang="en-US" sz="2000" dirty="0">
                <a:solidFill>
                  <a:schemeClr val="bg1"/>
                </a:solidFill>
              </a:rPr>
            </a:br>
            <a:r>
              <a:rPr lang="en-US" sz="2000" dirty="0">
                <a:solidFill>
                  <a:schemeClr val="bg1"/>
                </a:solidFill>
              </a:rPr>
              <a:t>What was the average price change across segments?</a:t>
            </a:r>
          </a:p>
        </p:txBody>
      </p:sp>
      <p:sp>
        <p:nvSpPr>
          <p:cNvPr id="4" name="Content Placeholder 3">
            <a:extLst>
              <a:ext uri="{FF2B5EF4-FFF2-40B4-BE49-F238E27FC236}">
                <a16:creationId xmlns:a16="http://schemas.microsoft.com/office/drawing/2014/main" id="{57CFC7C9-DDE8-3CFA-3CDB-AEB5F45CEB16}"/>
              </a:ext>
            </a:extLst>
          </p:cNvPr>
          <p:cNvSpPr>
            <a:spLocks noGrp="1"/>
          </p:cNvSpPr>
          <p:nvPr>
            <p:ph idx="1"/>
          </p:nvPr>
        </p:nvSpPr>
        <p:spPr>
          <a:xfrm>
            <a:off x="673754" y="2160590"/>
            <a:ext cx="3973943" cy="3440110"/>
          </a:xfrm>
        </p:spPr>
        <p:txBody>
          <a:bodyPr vert="horz" lIns="91440" tIns="45720" rIns="91440" bIns="45720" rtlCol="0">
            <a:normAutofit/>
          </a:bodyPr>
          <a:lstStyle/>
          <a:p>
            <a:r>
              <a:rPr lang="en-US" dirty="0">
                <a:solidFill>
                  <a:schemeClr val="bg1"/>
                </a:solidFill>
              </a:rPr>
              <a:t>The average price change calculated for commuter is </a:t>
            </a:r>
          </a:p>
          <a:p>
            <a:pPr marL="0" indent="0">
              <a:buNone/>
            </a:pPr>
            <a:r>
              <a:rPr lang="en-US" b="1" dirty="0">
                <a:solidFill>
                  <a:schemeClr val="bg1"/>
                </a:solidFill>
              </a:rPr>
              <a:t>     </a:t>
            </a:r>
            <a:r>
              <a:rPr lang="en-IN" b="1" dirty="0">
                <a:solidFill>
                  <a:schemeClr val="lt1"/>
                </a:solidFill>
              </a:rPr>
              <a:t>-₹ 8,000</a:t>
            </a:r>
            <a:r>
              <a:rPr lang="en-IN" b="1" dirty="0"/>
              <a:t> </a:t>
            </a:r>
          </a:p>
          <a:p>
            <a:r>
              <a:rPr lang="en-US" dirty="0">
                <a:solidFill>
                  <a:schemeClr val="bg1"/>
                </a:solidFill>
              </a:rPr>
              <a:t>The average price change calculated for mid-range is </a:t>
            </a:r>
          </a:p>
          <a:p>
            <a:pPr marL="0" indent="0">
              <a:buNone/>
            </a:pPr>
            <a:r>
              <a:rPr lang="en-IN" b="1" dirty="0">
                <a:solidFill>
                  <a:schemeClr val="lt1"/>
                </a:solidFill>
              </a:rPr>
              <a:t>	-₹ 14,357</a:t>
            </a:r>
            <a:r>
              <a:rPr lang="en-IN" b="1" dirty="0"/>
              <a:t> </a:t>
            </a:r>
          </a:p>
          <a:p>
            <a:r>
              <a:rPr lang="en-US" dirty="0">
                <a:solidFill>
                  <a:schemeClr val="bg1"/>
                </a:solidFill>
              </a:rPr>
              <a:t>The average price change calculated for mid-range is </a:t>
            </a:r>
          </a:p>
          <a:p>
            <a:pPr marL="0" indent="0">
              <a:buNone/>
            </a:pPr>
            <a:r>
              <a:rPr lang="en-IN" b="1" dirty="0">
                <a:solidFill>
                  <a:schemeClr val="lt1"/>
                </a:solidFill>
              </a:rPr>
              <a:t>	₹ 28,600</a:t>
            </a:r>
            <a:r>
              <a:rPr lang="en-IN" b="1" dirty="0"/>
              <a:t> </a:t>
            </a:r>
          </a:p>
          <a:p>
            <a:pPr marL="0" indent="0">
              <a:buNone/>
            </a:pPr>
            <a:endParaRPr lang="en-IN" b="1" dirty="0"/>
          </a:p>
          <a:p>
            <a:pPr marL="0" indent="0">
              <a:buNone/>
            </a:pPr>
            <a:endParaRPr lang="en-IN" b="1" dirty="0"/>
          </a:p>
          <a:p>
            <a:pPr marL="0" indent="0">
              <a:buNone/>
            </a:pPr>
            <a:endParaRPr lang="en-US" dirty="0">
              <a:solidFill>
                <a:schemeClr val="bg1"/>
              </a:solidFill>
            </a:endParaRPr>
          </a:p>
        </p:txBody>
      </p:sp>
      <p:sp>
        <p:nvSpPr>
          <p:cNvPr id="17" name="Isosceles Triangle 16">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5" name="Picture 4">
            <a:extLst>
              <a:ext uri="{FF2B5EF4-FFF2-40B4-BE49-F238E27FC236}">
                <a16:creationId xmlns:a16="http://schemas.microsoft.com/office/drawing/2014/main" id="{CF60CDA5-0B15-0890-04E8-ED63A6BDDE55}"/>
              </a:ext>
            </a:extLst>
          </p:cNvPr>
          <p:cNvPicPr>
            <a:picLocks noChangeAspect="1"/>
          </p:cNvPicPr>
          <p:nvPr/>
        </p:nvPicPr>
        <p:blipFill>
          <a:blip r:embed="rId2"/>
          <a:stretch>
            <a:fillRect/>
          </a:stretch>
        </p:blipFill>
        <p:spPr>
          <a:xfrm>
            <a:off x="4876799" y="2948949"/>
            <a:ext cx="6906589" cy="140037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937308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685B5D-A958-FAFB-B7B1-289AE2B8110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13F1E0A-E5E3-D0C7-DCA1-B56033E33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EE135A6-A0BE-00CE-72DE-B11676028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4FAFCB97-687F-3439-0CE1-D802EBB7C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F2B2C527-5505-F634-BDBF-3411D89B5D17}"/>
              </a:ext>
            </a:extLst>
          </p:cNvPr>
          <p:cNvSpPr>
            <a:spLocks noGrp="1"/>
          </p:cNvSpPr>
          <p:nvPr>
            <p:ph type="title"/>
          </p:nvPr>
        </p:nvSpPr>
        <p:spPr>
          <a:xfrm>
            <a:off x="673754" y="643467"/>
            <a:ext cx="4203045" cy="1375608"/>
          </a:xfrm>
        </p:spPr>
        <p:txBody>
          <a:bodyPr vert="horz" lIns="91440" tIns="45720" rIns="91440" bIns="45720" rtlCol="0" anchor="ctr">
            <a:normAutofit fontScale="90000"/>
          </a:bodyPr>
          <a:lstStyle/>
          <a:p>
            <a:pPr>
              <a:lnSpc>
                <a:spcPct val="90000"/>
              </a:lnSpc>
            </a:pPr>
            <a:r>
              <a:rPr lang="en-US" sz="2000" b="1" dirty="0">
                <a:solidFill>
                  <a:schemeClr val="bg1"/>
                </a:solidFill>
              </a:rPr>
              <a:t>PROBLEM STATEMENT 7</a:t>
            </a:r>
            <a:br>
              <a:rPr lang="en-US" sz="2000" dirty="0">
                <a:solidFill>
                  <a:schemeClr val="bg1"/>
                </a:solidFill>
              </a:rPr>
            </a:br>
            <a:r>
              <a:rPr lang="en-US" sz="2000" dirty="0">
                <a:solidFill>
                  <a:schemeClr val="bg1"/>
                </a:solidFill>
              </a:rPr>
              <a:t>Which segment faced the steepest tax hike, and does Bajaj need to adjust pricing/marketing strategies to retain buyers in that segment?</a:t>
            </a:r>
            <a:br>
              <a:rPr lang="en-US" sz="2000" dirty="0">
                <a:solidFill>
                  <a:schemeClr val="bg1"/>
                </a:solidFill>
              </a:rPr>
            </a:br>
            <a:endParaRPr lang="en-US" sz="2000" dirty="0">
              <a:solidFill>
                <a:schemeClr val="bg1"/>
              </a:solidFill>
            </a:endParaRPr>
          </a:p>
        </p:txBody>
      </p:sp>
      <p:sp>
        <p:nvSpPr>
          <p:cNvPr id="4" name="Content Placeholder 3">
            <a:extLst>
              <a:ext uri="{FF2B5EF4-FFF2-40B4-BE49-F238E27FC236}">
                <a16:creationId xmlns:a16="http://schemas.microsoft.com/office/drawing/2014/main" id="{F50EC4DB-B751-260B-8B13-8524584FF143}"/>
              </a:ext>
            </a:extLst>
          </p:cNvPr>
          <p:cNvSpPr>
            <a:spLocks noGrp="1"/>
          </p:cNvSpPr>
          <p:nvPr>
            <p:ph idx="1"/>
          </p:nvPr>
        </p:nvSpPr>
        <p:spPr>
          <a:xfrm>
            <a:off x="673754" y="2160590"/>
            <a:ext cx="3973943" cy="3440110"/>
          </a:xfrm>
        </p:spPr>
        <p:txBody>
          <a:bodyPr vert="horz" lIns="91440" tIns="45720" rIns="91440" bIns="45720" rtlCol="0">
            <a:normAutofit/>
          </a:bodyPr>
          <a:lstStyle/>
          <a:p>
            <a:pPr marL="0" indent="0">
              <a:buNone/>
            </a:pPr>
            <a:endParaRPr lang="en-IN" b="1" dirty="0"/>
          </a:p>
          <a:p>
            <a:pPr marL="0" indent="0">
              <a:buNone/>
            </a:pPr>
            <a:endParaRPr lang="en-IN" b="1" dirty="0"/>
          </a:p>
          <a:p>
            <a:pPr marL="0" indent="0">
              <a:buNone/>
            </a:pPr>
            <a:endParaRPr lang="en-US" dirty="0">
              <a:solidFill>
                <a:schemeClr val="bg1"/>
              </a:solidFill>
            </a:endParaRPr>
          </a:p>
        </p:txBody>
      </p:sp>
      <p:sp>
        <p:nvSpPr>
          <p:cNvPr id="17" name="Isosceles Triangle 16">
            <a:extLst>
              <a:ext uri="{FF2B5EF4-FFF2-40B4-BE49-F238E27FC236}">
                <a16:creationId xmlns:a16="http://schemas.microsoft.com/office/drawing/2014/main" id="{74B6AB0C-1DC5-768D-B6F5-DF38182B6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3" name="Content Placeholder 6">
            <a:extLst>
              <a:ext uri="{FF2B5EF4-FFF2-40B4-BE49-F238E27FC236}">
                <a16:creationId xmlns:a16="http://schemas.microsoft.com/office/drawing/2014/main" id="{048A9AF7-7551-767A-EB9C-24BF153FB281}"/>
              </a:ext>
            </a:extLst>
          </p:cNvPr>
          <p:cNvPicPr>
            <a:picLocks noChangeAspect="1"/>
          </p:cNvPicPr>
          <p:nvPr/>
        </p:nvPicPr>
        <p:blipFill>
          <a:blip r:embed="rId2"/>
          <a:stretch>
            <a:fillRect/>
          </a:stretch>
        </p:blipFill>
        <p:spPr>
          <a:xfrm>
            <a:off x="4771833" y="1057405"/>
            <a:ext cx="7105154" cy="3210273"/>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E1C54EF3-B128-1187-1AA8-40296406F599}"/>
              </a:ext>
            </a:extLst>
          </p:cNvPr>
          <p:cNvPicPr>
            <a:picLocks noChangeAspect="1"/>
          </p:cNvPicPr>
          <p:nvPr/>
        </p:nvPicPr>
        <p:blipFill>
          <a:blip r:embed="rId3"/>
          <a:stretch>
            <a:fillRect/>
          </a:stretch>
        </p:blipFill>
        <p:spPr>
          <a:xfrm>
            <a:off x="4771833" y="4448639"/>
            <a:ext cx="7105153" cy="1440631"/>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F1126E9A-D282-D51D-125B-2578297BC371}"/>
              </a:ext>
            </a:extLst>
          </p:cNvPr>
          <p:cNvSpPr txBox="1"/>
          <p:nvPr/>
        </p:nvSpPr>
        <p:spPr>
          <a:xfrm>
            <a:off x="315013" y="2452678"/>
            <a:ext cx="3478054" cy="2862322"/>
          </a:xfrm>
          <a:prstGeom prst="rect">
            <a:avLst/>
          </a:prstGeom>
          <a:noFill/>
        </p:spPr>
        <p:txBody>
          <a:bodyPr wrap="square">
            <a:spAutoFit/>
          </a:bodyPr>
          <a:lstStyle/>
          <a:p>
            <a:r>
              <a:rPr lang="en-IN" b="1" dirty="0">
                <a:solidFill>
                  <a:schemeClr val="bg1"/>
                </a:solidFill>
              </a:rPr>
              <a:t>As visualized in the following charts and </a:t>
            </a:r>
            <a:r>
              <a:rPr lang="en-IN" b="1" dirty="0" err="1">
                <a:solidFill>
                  <a:schemeClr val="bg1"/>
                </a:solidFill>
              </a:rPr>
              <a:t>kpi’s</a:t>
            </a:r>
            <a:r>
              <a:rPr lang="en-IN" b="1" dirty="0">
                <a:solidFill>
                  <a:schemeClr val="bg1"/>
                </a:solidFill>
              </a:rPr>
              <a:t> we can observe that the premium segment has the steepest and the only tax hike,</a:t>
            </a:r>
          </a:p>
          <a:p>
            <a:r>
              <a:rPr lang="en-IN" b="1" dirty="0">
                <a:solidFill>
                  <a:schemeClr val="bg1"/>
                </a:solidFill>
              </a:rPr>
              <a:t>Yes Bajaj needs to adjust the pricing and the marketing strategies for the premium segment in order to retain buyers.</a:t>
            </a:r>
          </a:p>
        </p:txBody>
      </p:sp>
    </p:spTree>
    <p:extLst>
      <p:ext uri="{BB962C8B-B14F-4D97-AF65-F5344CB8AC3E}">
        <p14:creationId xmlns:p14="http://schemas.microsoft.com/office/powerpoint/2010/main" val="28036095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C16C40-7C29-4ACC-B851-7E08E459B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CDD733AE-DD5E-4C77-8BCD-72BF12A06B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51DE90A4-932E-4370-BA07-30F43254C0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A19CA4A-B208-452A-8BE4-BC6940D33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74F8D3E-E618-4DE3-A0CC-B4904BB5D5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25">
              <a:extLst>
                <a:ext uri="{FF2B5EF4-FFF2-40B4-BE49-F238E27FC236}">
                  <a16:creationId xmlns:a16="http://schemas.microsoft.com/office/drawing/2014/main" id="{299DA406-C54B-4E31-867D-FAF8DCE70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Isosceles Triangle 14">
              <a:extLst>
                <a:ext uri="{FF2B5EF4-FFF2-40B4-BE49-F238E27FC236}">
                  <a16:creationId xmlns:a16="http://schemas.microsoft.com/office/drawing/2014/main" id="{A1E16883-5140-47C4-A9AD-AD6598AC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7">
              <a:extLst>
                <a:ext uri="{FF2B5EF4-FFF2-40B4-BE49-F238E27FC236}">
                  <a16:creationId xmlns:a16="http://schemas.microsoft.com/office/drawing/2014/main" id="{4CD848DC-8A2A-4093-9BDD-7AF4B6A27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8">
              <a:extLst>
                <a:ext uri="{FF2B5EF4-FFF2-40B4-BE49-F238E27FC236}">
                  <a16:creationId xmlns:a16="http://schemas.microsoft.com/office/drawing/2014/main" id="{34635A4D-E9CE-4B78-912A-479EA4512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9">
              <a:extLst>
                <a:ext uri="{FF2B5EF4-FFF2-40B4-BE49-F238E27FC236}">
                  <a16:creationId xmlns:a16="http://schemas.microsoft.com/office/drawing/2014/main" id="{D663A5EE-5581-44F3-8F98-688755F63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B1E84E6A-F5AE-4F4D-98F2-82FE4FCC26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DDE7DDC9-17D4-4686-833D-48F8733B4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A96CDAA3-EB16-F409-C003-3D69DD74FB6A}"/>
              </a:ext>
            </a:extLst>
          </p:cNvPr>
          <p:cNvSpPr>
            <a:spLocks noGrp="1"/>
          </p:cNvSpPr>
          <p:nvPr>
            <p:ph type="title"/>
          </p:nvPr>
        </p:nvSpPr>
        <p:spPr>
          <a:xfrm>
            <a:off x="677334" y="609600"/>
            <a:ext cx="8596668" cy="1320800"/>
          </a:xfrm>
        </p:spPr>
        <p:txBody>
          <a:bodyPr>
            <a:normAutofit/>
          </a:bodyPr>
          <a:lstStyle/>
          <a:p>
            <a:r>
              <a:rPr lang="en-IN" dirty="0"/>
              <a:t>conclusion:</a:t>
            </a:r>
          </a:p>
        </p:txBody>
      </p:sp>
      <p:sp>
        <p:nvSpPr>
          <p:cNvPr id="3" name="Content Placeholder 2">
            <a:extLst>
              <a:ext uri="{FF2B5EF4-FFF2-40B4-BE49-F238E27FC236}">
                <a16:creationId xmlns:a16="http://schemas.microsoft.com/office/drawing/2014/main" id="{EA320BA5-A1D5-456A-48C2-D5632CB7EF56}"/>
              </a:ext>
            </a:extLst>
          </p:cNvPr>
          <p:cNvSpPr>
            <a:spLocks noGrp="1"/>
          </p:cNvSpPr>
          <p:nvPr>
            <p:ph idx="1"/>
          </p:nvPr>
        </p:nvSpPr>
        <p:spPr>
          <a:xfrm>
            <a:off x="677334" y="2160589"/>
            <a:ext cx="8596668" cy="3880773"/>
          </a:xfrm>
        </p:spPr>
        <p:txBody>
          <a:bodyPr>
            <a:normAutofit/>
          </a:bodyPr>
          <a:lstStyle/>
          <a:p>
            <a:r>
              <a:rPr lang="en-US" b="1" dirty="0"/>
              <a:t>Policy Impact</a:t>
            </a:r>
            <a:r>
              <a:rPr lang="en-US" dirty="0"/>
              <a:t> – The new GST policy significantly shifted demand: commuter and mid-segment bikes benefited, while premium bikes faced a slowdown.</a:t>
            </a:r>
          </a:p>
          <a:p>
            <a:r>
              <a:rPr lang="en-US" b="1" dirty="0"/>
              <a:t>Winners &amp; Losers</a:t>
            </a:r>
            <a:r>
              <a:rPr lang="en-US" dirty="0"/>
              <a:t> – Bajaj models like </a:t>
            </a:r>
            <a:r>
              <a:rPr lang="en-US" b="1" dirty="0"/>
              <a:t>Pulsar 150 and Platina</a:t>
            </a:r>
            <a:r>
              <a:rPr lang="en-US" dirty="0"/>
              <a:t> gained strong demand post-policy, while </a:t>
            </a:r>
            <a:r>
              <a:rPr lang="en-US" b="1" dirty="0" err="1"/>
              <a:t>Dominar</a:t>
            </a:r>
            <a:r>
              <a:rPr lang="en-US" b="1" dirty="0"/>
              <a:t> 400 and Avenger</a:t>
            </a:r>
            <a:r>
              <a:rPr lang="en-US" dirty="0"/>
              <a:t> faced notable declines.</a:t>
            </a:r>
          </a:p>
          <a:p>
            <a:r>
              <a:rPr lang="en-US" b="1" dirty="0"/>
              <a:t>Revenue Trends</a:t>
            </a:r>
            <a:r>
              <a:rPr lang="en-US" dirty="0"/>
              <a:t> – Despite price increases in premium bikes, total revenue grew mainly because of higher commuter sales volumes.</a:t>
            </a:r>
          </a:p>
          <a:p>
            <a:r>
              <a:rPr lang="en-US" b="1" dirty="0"/>
              <a:t>Pricing Sensitivity</a:t>
            </a:r>
            <a:r>
              <a:rPr lang="en-US" dirty="0"/>
              <a:t> – Customers in the commuter segment are highly price-sensitive and responded positively to lower taxes, unlike premium buyers.</a:t>
            </a:r>
          </a:p>
          <a:p>
            <a:r>
              <a:rPr lang="en-US" b="1" dirty="0"/>
              <a:t>Strategic Takeaway</a:t>
            </a:r>
            <a:r>
              <a:rPr lang="en-US" dirty="0"/>
              <a:t> – Bajaj needs to </a:t>
            </a:r>
            <a:r>
              <a:rPr lang="en-US" b="1" dirty="0"/>
              <a:t>focus production on high-demand commuter and mid-segment models</a:t>
            </a:r>
            <a:r>
              <a:rPr lang="en-US" dirty="0"/>
              <a:t>, while refining the </a:t>
            </a:r>
            <a:r>
              <a:rPr lang="en-US" b="1" dirty="0"/>
              <a:t>premium strategy</a:t>
            </a:r>
            <a:r>
              <a:rPr lang="en-US" dirty="0"/>
              <a:t> (e.g., value-add features, financing options, exports).</a:t>
            </a:r>
          </a:p>
        </p:txBody>
      </p:sp>
    </p:spTree>
    <p:extLst>
      <p:ext uri="{BB962C8B-B14F-4D97-AF65-F5344CB8AC3E}">
        <p14:creationId xmlns:p14="http://schemas.microsoft.com/office/powerpoint/2010/main" val="441554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28460BD8-AE3F-4AC9-9D0B-717052AA5D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9" name="Straight Connector 38">
              <a:extLst>
                <a:ext uri="{FF2B5EF4-FFF2-40B4-BE49-F238E27FC236}">
                  <a16:creationId xmlns:a16="http://schemas.microsoft.com/office/drawing/2014/main" id="{54420CFE-F482-466E-9E1E-C78513C0B8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331032B-BD21-4BDA-920C-12E358052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 name="Rectangle 23">
              <a:extLst>
                <a:ext uri="{FF2B5EF4-FFF2-40B4-BE49-F238E27FC236}">
                  <a16:creationId xmlns:a16="http://schemas.microsoft.com/office/drawing/2014/main" id="{E7514DA3-59E7-409E-8A3B-AD097F6E5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0" name="Rectangle 25">
              <a:extLst>
                <a:ext uri="{FF2B5EF4-FFF2-40B4-BE49-F238E27FC236}">
                  <a16:creationId xmlns:a16="http://schemas.microsoft.com/office/drawing/2014/main" id="{57B9A2A6-3BE4-4599-9364-F71C5BFD6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1" name="Isosceles Triangle 40">
              <a:extLst>
                <a:ext uri="{FF2B5EF4-FFF2-40B4-BE49-F238E27FC236}">
                  <a16:creationId xmlns:a16="http://schemas.microsoft.com/office/drawing/2014/main" id="{4FD744C6-4ED8-4BC9-BF68-6BDF701C5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2" name="Rectangle 27">
              <a:extLst>
                <a:ext uri="{FF2B5EF4-FFF2-40B4-BE49-F238E27FC236}">
                  <a16:creationId xmlns:a16="http://schemas.microsoft.com/office/drawing/2014/main" id="{092C5BAD-C911-4F8F-A1C5-470268BE6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3" name="Rectangle 28">
              <a:extLst>
                <a:ext uri="{FF2B5EF4-FFF2-40B4-BE49-F238E27FC236}">
                  <a16:creationId xmlns:a16="http://schemas.microsoft.com/office/drawing/2014/main" id="{B133D0C8-4EC4-424F-8E70-0482D5B1B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4" name="Rectangle 29">
              <a:extLst>
                <a:ext uri="{FF2B5EF4-FFF2-40B4-BE49-F238E27FC236}">
                  <a16:creationId xmlns:a16="http://schemas.microsoft.com/office/drawing/2014/main" id="{7B1532A0-F4B3-4DE8-B18F-740CAAD25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5" name="Isosceles Triangle 44">
              <a:extLst>
                <a:ext uri="{FF2B5EF4-FFF2-40B4-BE49-F238E27FC236}">
                  <a16:creationId xmlns:a16="http://schemas.microsoft.com/office/drawing/2014/main" id="{8EFDD162-BBBA-4062-8BBF-53DBA10913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6" name="Isosceles Triangle 45">
              <a:extLst>
                <a:ext uri="{FF2B5EF4-FFF2-40B4-BE49-F238E27FC236}">
                  <a16:creationId xmlns:a16="http://schemas.microsoft.com/office/drawing/2014/main" id="{DCFC9E65-3E19-4483-B952-25D29683CA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useBgFill="1">
        <p:nvSpPr>
          <p:cNvPr id="20" name="Rectangle 19">
            <a:extLst>
              <a:ext uri="{FF2B5EF4-FFF2-40B4-BE49-F238E27FC236}">
                <a16:creationId xmlns:a16="http://schemas.microsoft.com/office/drawing/2014/main" id="{9179DE42-5613-4B35-A1E6-6CCBAA13C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EB898B32-3891-4C3A-8F58-C5969D2E90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48300"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4AE4806D-B8F9-4679-A68A-9BD21C01A3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7175"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52FB45E9-914E-4471-AC87-E475CD5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8764"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5">
            <a:extLst>
              <a:ext uri="{FF2B5EF4-FFF2-40B4-BE49-F238E27FC236}">
                <a16:creationId xmlns:a16="http://schemas.microsoft.com/office/drawing/2014/main" id="{C310626D-5743-49D4-8F7D-88C4F8F05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80730"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Isosceles Triangle 29">
            <a:extLst>
              <a:ext uri="{FF2B5EF4-FFF2-40B4-BE49-F238E27FC236}">
                <a16:creationId xmlns:a16="http://schemas.microsoft.com/office/drawing/2014/main" id="{3C195FC1-B568-4C72-9902-34CB35DDD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9621"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2" name="Rectangle 27">
            <a:extLst>
              <a:ext uri="{FF2B5EF4-FFF2-40B4-BE49-F238E27FC236}">
                <a16:creationId xmlns:a16="http://schemas.microsoft.com/office/drawing/2014/main" id="{EF2BDF77-362C-43F0-8CBB-A969EC2AE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1788"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4" name="Isosceles Triangle 33">
            <a:extLst>
              <a:ext uri="{FF2B5EF4-FFF2-40B4-BE49-F238E27FC236}">
                <a16:creationId xmlns:a16="http://schemas.microsoft.com/office/drawing/2014/main" id="{4BE96B01-3929-432D-B8C2-ADBCB74C2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48954"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6" name="Freeform: Shape 35">
            <a:extLst>
              <a:ext uri="{FF2B5EF4-FFF2-40B4-BE49-F238E27FC236}">
                <a16:creationId xmlns:a16="http://schemas.microsoft.com/office/drawing/2014/main" id="{2A6FCDE6-CDE2-4C51-B18E-A95CFB679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6287" y="-8467"/>
            <a:ext cx="9175713" cy="6866467"/>
          </a:xfrm>
          <a:custGeom>
            <a:avLst/>
            <a:gdLst>
              <a:gd name="connsiteX0" fmla="*/ 0 w 9175713"/>
              <a:gd name="connsiteY0" fmla="*/ 0 h 6866467"/>
              <a:gd name="connsiteX1" fmla="*/ 1249825 w 9175713"/>
              <a:gd name="connsiteY1" fmla="*/ 0 h 6866467"/>
              <a:gd name="connsiteX2" fmla="*/ 1249825 w 9175713"/>
              <a:gd name="connsiteY2" fmla="*/ 8467 h 6866467"/>
              <a:gd name="connsiteX3" fmla="*/ 9175713 w 9175713"/>
              <a:gd name="connsiteY3" fmla="*/ 8467 h 6866467"/>
              <a:gd name="connsiteX4" fmla="*/ 9175713 w 9175713"/>
              <a:gd name="connsiteY4" fmla="*/ 6866467 h 6866467"/>
              <a:gd name="connsiteX5" fmla="*/ 1249825 w 9175713"/>
              <a:gd name="connsiteY5" fmla="*/ 6866467 h 6866467"/>
              <a:gd name="connsiteX6" fmla="*/ 1109382 w 9175713"/>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713" h="6866467">
                <a:moveTo>
                  <a:pt x="0" y="0"/>
                </a:moveTo>
                <a:lnTo>
                  <a:pt x="1249825" y="0"/>
                </a:lnTo>
                <a:lnTo>
                  <a:pt x="1249825" y="8467"/>
                </a:lnTo>
                <a:lnTo>
                  <a:pt x="9175713" y="8467"/>
                </a:lnTo>
                <a:lnTo>
                  <a:pt x="9175713"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8D24B6-EF34-0F26-2662-83EEC33B50DC}"/>
              </a:ext>
            </a:extLst>
          </p:cNvPr>
          <p:cNvSpPr>
            <a:spLocks noGrp="1"/>
          </p:cNvSpPr>
          <p:nvPr>
            <p:ph type="title"/>
          </p:nvPr>
        </p:nvSpPr>
        <p:spPr>
          <a:xfrm>
            <a:off x="4419136" y="1020871"/>
            <a:ext cx="6960759" cy="2849671"/>
          </a:xfrm>
        </p:spPr>
        <p:txBody>
          <a:bodyPr vert="horz" lIns="91440" tIns="45720" rIns="91440" bIns="45720" rtlCol="0" anchor="b">
            <a:normAutofit/>
          </a:bodyPr>
          <a:lstStyle/>
          <a:p>
            <a:r>
              <a:rPr lang="en-US" sz="6000" dirty="0">
                <a:solidFill>
                  <a:srgbClr val="FFFFFF"/>
                </a:solidFill>
              </a:rPr>
              <a:t>Thank You</a:t>
            </a:r>
          </a:p>
        </p:txBody>
      </p:sp>
      <p:sp>
        <p:nvSpPr>
          <p:cNvPr id="3" name="Text Placeholder 2">
            <a:extLst>
              <a:ext uri="{FF2B5EF4-FFF2-40B4-BE49-F238E27FC236}">
                <a16:creationId xmlns:a16="http://schemas.microsoft.com/office/drawing/2014/main" id="{AD63995D-B40E-012E-2417-AD94B085910C}"/>
              </a:ext>
            </a:extLst>
          </p:cNvPr>
          <p:cNvSpPr>
            <a:spLocks noGrp="1"/>
          </p:cNvSpPr>
          <p:nvPr>
            <p:ph type="body" idx="1"/>
          </p:nvPr>
        </p:nvSpPr>
        <p:spPr>
          <a:xfrm>
            <a:off x="4548104" y="3962088"/>
            <a:ext cx="6112077" cy="1186108"/>
          </a:xfrm>
        </p:spPr>
        <p:txBody>
          <a:bodyPr vert="horz" lIns="91440" tIns="45720" rIns="91440" bIns="45720" rtlCol="0" anchor="t">
            <a:normAutofit/>
          </a:bodyPr>
          <a:lstStyle/>
          <a:p>
            <a:r>
              <a:rPr lang="en-US" sz="1800" dirty="0">
                <a:solidFill>
                  <a:srgbClr val="FFFFFF">
                    <a:alpha val="70000"/>
                  </a:srgbClr>
                </a:solidFill>
              </a:rPr>
              <a:t>Hope you have a great day ahead </a:t>
            </a:r>
            <a:r>
              <a:rPr lang="en-US" sz="1800" dirty="0">
                <a:solidFill>
                  <a:srgbClr val="FFFFFF">
                    <a:alpha val="70000"/>
                  </a:srgbClr>
                </a:solidFill>
                <a:sym typeface="Wingdings" panose="05000000000000000000" pitchFamily="2" charset="2"/>
              </a:rPr>
              <a:t></a:t>
            </a:r>
            <a:endParaRPr lang="en-US" sz="1800" dirty="0">
              <a:solidFill>
                <a:srgbClr val="FFFFFF">
                  <a:alpha val="70000"/>
                </a:srgbClr>
              </a:solidFill>
            </a:endParaRPr>
          </a:p>
        </p:txBody>
      </p:sp>
      <p:sp>
        <p:nvSpPr>
          <p:cNvPr id="38" name="Isosceles Triangle 37">
            <a:extLst>
              <a:ext uri="{FF2B5EF4-FFF2-40B4-BE49-F238E27FC236}">
                <a16:creationId xmlns:a16="http://schemas.microsoft.com/office/drawing/2014/main" id="{9D2E8756-2465-473A-BA2A-2DB1D6224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062562" y="3271487"/>
            <a:ext cx="220660" cy="186439"/>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82067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586</TotalTime>
  <Words>1003</Words>
  <Application>Microsoft Office PowerPoint</Application>
  <PresentationFormat>Widescreen</PresentationFormat>
  <Paragraphs>85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Trebuchet MS</vt:lpstr>
      <vt:lpstr>Wingdings</vt:lpstr>
      <vt:lpstr>Wingdings 3</vt:lpstr>
      <vt:lpstr>Facet</vt:lpstr>
      <vt:lpstr>Impact of India’s Revised GST Policy  on Bajaj Motorcycle Sales</vt:lpstr>
      <vt:lpstr>OBJECTIVE</vt:lpstr>
      <vt:lpstr>📌 Scope of Analysis</vt:lpstr>
      <vt:lpstr>METHODOLOGY</vt:lpstr>
      <vt:lpstr>PROBLEM STATEMENTS</vt:lpstr>
      <vt:lpstr>PROBLEM STATEMENT 1 Which bike segments show a clear increase in demand post-policy, and should Bajaj scale up production in those categories ? </vt:lpstr>
      <vt:lpstr>PROBLEM STATEMENT 2 Which segments are showing declining demand, and should Bajaj reduce production or reposition those models? </vt:lpstr>
      <vt:lpstr>PROBLEM STATEMENT 3 Which top 10 models gained the most sales after the policy, and should Bajaj prioritize marketing &amp; dealership push for them? </vt:lpstr>
      <vt:lpstr>PROBLEM STATEMENT 4 Which models suffered the biggest sales drop post-policy, and should Bajaj introduce offers/finance schemes to protect their demand?</vt:lpstr>
      <vt:lpstr>PROBLEM STATEMENT 5 How much additional revenue was generated due to increased demand in commuter bikes?</vt:lpstr>
      <vt:lpstr>PROBLEM STATEMENT 6 What was the average price change across segments?</vt:lpstr>
      <vt:lpstr>PROBLEM STATEMENT 7 Which segment faced the steepest tax hike, and does Bajaj need to adjust pricing/marketing strategies to retain buyers in that segment?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Sufiyan Mirkar</dc:creator>
  <cp:lastModifiedBy>Sufiyan Mirkar</cp:lastModifiedBy>
  <cp:revision>1</cp:revision>
  <dcterms:created xsi:type="dcterms:W3CDTF">2025-09-19T23:07:32Z</dcterms:created>
  <dcterms:modified xsi:type="dcterms:W3CDTF">2025-09-21T09:03:46Z</dcterms:modified>
</cp:coreProperties>
</file>